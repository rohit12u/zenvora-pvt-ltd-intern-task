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1"/>
  </p:sldMasterIdLst>
  <p:sldIdLst>
    <p:sldId id="256" r:id="rId2"/>
    <p:sldId id="257" r:id="rId3"/>
    <p:sldId id="258" r:id="rId4"/>
    <p:sldId id="259" r:id="rId5"/>
    <p:sldId id="274" r:id="rId6"/>
    <p:sldId id="260" r:id="rId7"/>
    <p:sldId id="299" r:id="rId8"/>
    <p:sldId id="300" r:id="rId9"/>
    <p:sldId id="301" r:id="rId10"/>
    <p:sldId id="302" r:id="rId11"/>
    <p:sldId id="270" r:id="rId12"/>
    <p:sldId id="269" r:id="rId13"/>
    <p:sldId id="271" r:id="rId14"/>
    <p:sldId id="261" r:id="rId15"/>
    <p:sldId id="272" r:id="rId16"/>
    <p:sldId id="273" r:id="rId17"/>
    <p:sldId id="262" r:id="rId18"/>
    <p:sldId id="294" r:id="rId19"/>
    <p:sldId id="295" r:id="rId20"/>
    <p:sldId id="296" r:id="rId21"/>
    <p:sldId id="297" r:id="rId22"/>
    <p:sldId id="298" r:id="rId23"/>
    <p:sldId id="263" r:id="rId24"/>
    <p:sldId id="288" r:id="rId25"/>
    <p:sldId id="289" r:id="rId26"/>
    <p:sldId id="290" r:id="rId27"/>
    <p:sldId id="291" r:id="rId28"/>
    <p:sldId id="292" r:id="rId29"/>
    <p:sldId id="293" r:id="rId30"/>
    <p:sldId id="284" r:id="rId31"/>
    <p:sldId id="285" r:id="rId32"/>
    <p:sldId id="286" r:id="rId33"/>
    <p:sldId id="287" r:id="rId34"/>
    <p:sldId id="264" r:id="rId35"/>
    <p:sldId id="265" r:id="rId36"/>
    <p:sldId id="266" r:id="rId37"/>
    <p:sldId id="276" r:id="rId38"/>
    <p:sldId id="277" r:id="rId39"/>
    <p:sldId id="278" r:id="rId40"/>
    <p:sldId id="279" r:id="rId41"/>
    <p:sldId id="280" r:id="rId42"/>
    <p:sldId id="267" r:id="rId43"/>
    <p:sldId id="268" r:id="rId44"/>
    <p:sldId id="281" r:id="rId45"/>
    <p:sldId id="282" r:id="rId46"/>
    <p:sldId id="283" r:id="rId47"/>
    <p:sldId id="275"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p:scale>
          <a:sx n="75" d="100"/>
          <a:sy n="75" d="100"/>
        </p:scale>
        <p:origin x="115"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CD77ED-F951-47C6-97A2-3636ACE60A7F}" type="doc">
      <dgm:prSet loTypeId="urn:microsoft.com/office/officeart/2005/8/layout/default" loCatId="list" qsTypeId="urn:microsoft.com/office/officeart/2005/8/quickstyle/simple1" qsCatId="simple" csTypeId="urn:microsoft.com/office/officeart/2005/8/colors/accent0_3" csCatId="mainScheme"/>
      <dgm:spPr/>
      <dgm:t>
        <a:bodyPr/>
        <a:lstStyle/>
        <a:p>
          <a:endParaRPr lang="en-US"/>
        </a:p>
      </dgm:t>
    </dgm:pt>
    <dgm:pt modelId="{463772A6-773E-4DFB-8CE3-7F6A114D3E1A}">
      <dgm:prSet/>
      <dgm:spPr/>
      <dgm:t>
        <a:bodyPr/>
        <a:lstStyle/>
        <a:p>
          <a:r>
            <a:rPr lang="en-US"/>
            <a:t>AI in Recruitment </a:t>
          </a:r>
        </a:p>
      </dgm:t>
    </dgm:pt>
    <dgm:pt modelId="{371117D2-C7DF-4601-AFED-CFD0CA961E71}" type="parTrans" cxnId="{F88E2E01-405D-4EC4-8648-B6CEDD8FD086}">
      <dgm:prSet/>
      <dgm:spPr/>
      <dgm:t>
        <a:bodyPr/>
        <a:lstStyle/>
        <a:p>
          <a:endParaRPr lang="en-US"/>
        </a:p>
      </dgm:t>
    </dgm:pt>
    <dgm:pt modelId="{D69A3682-D7ED-4ED2-955B-BA0888C5501E}" type="sibTrans" cxnId="{F88E2E01-405D-4EC4-8648-B6CEDD8FD086}">
      <dgm:prSet/>
      <dgm:spPr/>
      <dgm:t>
        <a:bodyPr/>
        <a:lstStyle/>
        <a:p>
          <a:endParaRPr lang="en-US"/>
        </a:p>
      </dgm:t>
    </dgm:pt>
    <dgm:pt modelId="{9F78BA80-7507-4B4F-BF98-92FE56F2C0F3}">
      <dgm:prSet/>
      <dgm:spPr/>
      <dgm:t>
        <a:bodyPr/>
        <a:lstStyle/>
        <a:p>
          <a:r>
            <a:rPr lang="en-US"/>
            <a:t>Resume Parsing </a:t>
          </a:r>
        </a:p>
      </dgm:t>
    </dgm:pt>
    <dgm:pt modelId="{B7261AEA-6B55-437F-80F2-D9B20EE1347F}" type="parTrans" cxnId="{1BF1164F-AE27-42E1-A490-3AFCAD009052}">
      <dgm:prSet/>
      <dgm:spPr/>
      <dgm:t>
        <a:bodyPr/>
        <a:lstStyle/>
        <a:p>
          <a:endParaRPr lang="en-US"/>
        </a:p>
      </dgm:t>
    </dgm:pt>
    <dgm:pt modelId="{06D67209-C623-403C-BE90-F3861EEE97F1}" type="sibTrans" cxnId="{1BF1164F-AE27-42E1-A490-3AFCAD009052}">
      <dgm:prSet/>
      <dgm:spPr/>
      <dgm:t>
        <a:bodyPr/>
        <a:lstStyle/>
        <a:p>
          <a:endParaRPr lang="en-US"/>
        </a:p>
      </dgm:t>
    </dgm:pt>
    <dgm:pt modelId="{540AAC0A-67B6-4CC8-92B5-730CD4786783}">
      <dgm:prSet/>
      <dgm:spPr/>
      <dgm:t>
        <a:bodyPr/>
        <a:lstStyle/>
        <a:p>
          <a:r>
            <a:rPr lang="en-US"/>
            <a:t>Attendance &amp; Leave </a:t>
          </a:r>
        </a:p>
      </dgm:t>
    </dgm:pt>
    <dgm:pt modelId="{AC0ED3F7-CE84-48A2-B3CE-07F025B0EAD9}" type="parTrans" cxnId="{A50C0EA9-AAEC-4471-AFCF-7386A84FAFB7}">
      <dgm:prSet/>
      <dgm:spPr/>
      <dgm:t>
        <a:bodyPr/>
        <a:lstStyle/>
        <a:p>
          <a:endParaRPr lang="en-US"/>
        </a:p>
      </dgm:t>
    </dgm:pt>
    <dgm:pt modelId="{0875FF30-48EC-431F-8F81-195497A92899}" type="sibTrans" cxnId="{A50C0EA9-AAEC-4471-AFCF-7386A84FAFB7}">
      <dgm:prSet/>
      <dgm:spPr/>
      <dgm:t>
        <a:bodyPr/>
        <a:lstStyle/>
        <a:p>
          <a:endParaRPr lang="en-US"/>
        </a:p>
      </dgm:t>
    </dgm:pt>
    <dgm:pt modelId="{DC34A910-99FE-4B3B-8F75-78AA77E40B71}">
      <dgm:prSet/>
      <dgm:spPr/>
      <dgm:t>
        <a:bodyPr/>
        <a:lstStyle/>
        <a:p>
          <a:r>
            <a:rPr lang="en-US"/>
            <a:t>Chatbots </a:t>
          </a:r>
        </a:p>
      </dgm:t>
    </dgm:pt>
    <dgm:pt modelId="{C5FAF734-FDCA-43E3-9826-87CA21C35EAD}" type="parTrans" cxnId="{394372B5-4533-4C08-A00A-8C3AE8E1E693}">
      <dgm:prSet/>
      <dgm:spPr/>
      <dgm:t>
        <a:bodyPr/>
        <a:lstStyle/>
        <a:p>
          <a:endParaRPr lang="en-US"/>
        </a:p>
      </dgm:t>
    </dgm:pt>
    <dgm:pt modelId="{3CA41321-1115-44A7-BA54-0803B656EE6C}" type="sibTrans" cxnId="{394372B5-4533-4C08-A00A-8C3AE8E1E693}">
      <dgm:prSet/>
      <dgm:spPr/>
      <dgm:t>
        <a:bodyPr/>
        <a:lstStyle/>
        <a:p>
          <a:endParaRPr lang="en-US"/>
        </a:p>
      </dgm:t>
    </dgm:pt>
    <dgm:pt modelId="{FFE1407A-B0A3-4FDE-A18F-B21D6363F3BA}">
      <dgm:prSet/>
      <dgm:spPr/>
      <dgm:t>
        <a:bodyPr/>
        <a:lstStyle/>
        <a:p>
          <a:r>
            <a:rPr lang="en-US" dirty="0"/>
            <a:t>Performance Analytics </a:t>
          </a:r>
        </a:p>
      </dgm:t>
    </dgm:pt>
    <dgm:pt modelId="{8EE273FE-D5CD-4D79-9DE3-FF20CC9AC60D}" type="parTrans" cxnId="{07CBD093-637C-49CF-A3CB-AF8730432AFC}">
      <dgm:prSet/>
      <dgm:spPr/>
      <dgm:t>
        <a:bodyPr/>
        <a:lstStyle/>
        <a:p>
          <a:endParaRPr lang="en-US"/>
        </a:p>
      </dgm:t>
    </dgm:pt>
    <dgm:pt modelId="{72DE9F77-01F8-4A1B-B9B2-1630B9F9B5FE}" type="sibTrans" cxnId="{07CBD093-637C-49CF-A3CB-AF8730432AFC}">
      <dgm:prSet/>
      <dgm:spPr/>
      <dgm:t>
        <a:bodyPr/>
        <a:lstStyle/>
        <a:p>
          <a:endParaRPr lang="en-US"/>
        </a:p>
      </dgm:t>
    </dgm:pt>
    <dgm:pt modelId="{A02AAE2D-2D95-495C-8EAF-B6A8F226639A}">
      <dgm:prSet/>
      <dgm:spPr/>
      <dgm:t>
        <a:bodyPr/>
        <a:lstStyle/>
        <a:p>
          <a:r>
            <a:rPr lang="en-US"/>
            <a:t>Payroll Automation </a:t>
          </a:r>
        </a:p>
      </dgm:t>
    </dgm:pt>
    <dgm:pt modelId="{DDE4F462-55B9-4FD3-8C3C-F88BB5A5B902}" type="parTrans" cxnId="{45B81700-7AA3-422A-B384-F6D5BA35D26D}">
      <dgm:prSet/>
      <dgm:spPr/>
      <dgm:t>
        <a:bodyPr/>
        <a:lstStyle/>
        <a:p>
          <a:endParaRPr lang="en-US"/>
        </a:p>
      </dgm:t>
    </dgm:pt>
    <dgm:pt modelId="{A81ADE69-8E1A-409B-8481-CC241C15AC9E}" type="sibTrans" cxnId="{45B81700-7AA3-422A-B384-F6D5BA35D26D}">
      <dgm:prSet/>
      <dgm:spPr/>
      <dgm:t>
        <a:bodyPr/>
        <a:lstStyle/>
        <a:p>
          <a:endParaRPr lang="en-US"/>
        </a:p>
      </dgm:t>
    </dgm:pt>
    <dgm:pt modelId="{570633C1-880B-40FF-A6F2-40EE6761A612}">
      <dgm:prSet/>
      <dgm:spPr/>
      <dgm:t>
        <a:bodyPr/>
        <a:lstStyle/>
        <a:p>
          <a:r>
            <a:rPr lang="en-US"/>
            <a:t>Employee Engagement </a:t>
          </a:r>
        </a:p>
      </dgm:t>
    </dgm:pt>
    <dgm:pt modelId="{10633EEB-DF94-497A-92AC-86F2B289A977}" type="parTrans" cxnId="{B5FC2DE5-AA76-48EA-B5F1-0291EADDE089}">
      <dgm:prSet/>
      <dgm:spPr/>
      <dgm:t>
        <a:bodyPr/>
        <a:lstStyle/>
        <a:p>
          <a:endParaRPr lang="en-US"/>
        </a:p>
      </dgm:t>
    </dgm:pt>
    <dgm:pt modelId="{DEAEFD84-326B-497F-A802-7396A17069E3}" type="sibTrans" cxnId="{B5FC2DE5-AA76-48EA-B5F1-0291EADDE089}">
      <dgm:prSet/>
      <dgm:spPr/>
      <dgm:t>
        <a:bodyPr/>
        <a:lstStyle/>
        <a:p>
          <a:endParaRPr lang="en-US"/>
        </a:p>
      </dgm:t>
    </dgm:pt>
    <dgm:pt modelId="{D847455A-6DC8-4615-8F8D-6E0E62F55506}">
      <dgm:prSet/>
      <dgm:spPr/>
      <dgm:t>
        <a:bodyPr/>
        <a:lstStyle/>
        <a:p>
          <a:r>
            <a:rPr lang="en-US"/>
            <a:t>AI Tools in HR </a:t>
          </a:r>
        </a:p>
      </dgm:t>
    </dgm:pt>
    <dgm:pt modelId="{E79F20B2-EA9C-471D-B199-6ED6974B9C6F}" type="parTrans" cxnId="{CC423C19-1E78-4DD4-B47F-E757705ADEA2}">
      <dgm:prSet/>
      <dgm:spPr/>
      <dgm:t>
        <a:bodyPr/>
        <a:lstStyle/>
        <a:p>
          <a:endParaRPr lang="en-US"/>
        </a:p>
      </dgm:t>
    </dgm:pt>
    <dgm:pt modelId="{DEF7454A-05F3-4E98-8184-5C0856EB8A28}" type="sibTrans" cxnId="{CC423C19-1E78-4DD4-B47F-E757705ADEA2}">
      <dgm:prSet/>
      <dgm:spPr/>
      <dgm:t>
        <a:bodyPr/>
        <a:lstStyle/>
        <a:p>
          <a:endParaRPr lang="en-US"/>
        </a:p>
      </dgm:t>
    </dgm:pt>
    <dgm:pt modelId="{05C7A136-EE3B-4A01-8C27-0FDAEA59E6FE}">
      <dgm:prSet/>
      <dgm:spPr/>
      <dgm:t>
        <a:bodyPr/>
        <a:lstStyle/>
        <a:p>
          <a:r>
            <a:rPr lang="en-US"/>
            <a:t>Benefits &amp; Challenges </a:t>
          </a:r>
        </a:p>
      </dgm:t>
    </dgm:pt>
    <dgm:pt modelId="{E547A48F-9454-444C-B10E-175E4A68C58D}" type="parTrans" cxnId="{BE95F716-9DE5-4E45-AEF9-8CFBA5DAC818}">
      <dgm:prSet/>
      <dgm:spPr/>
      <dgm:t>
        <a:bodyPr/>
        <a:lstStyle/>
        <a:p>
          <a:endParaRPr lang="en-US"/>
        </a:p>
      </dgm:t>
    </dgm:pt>
    <dgm:pt modelId="{5FF01019-CD17-4411-ADDD-A60152A4D2E4}" type="sibTrans" cxnId="{BE95F716-9DE5-4E45-AEF9-8CFBA5DAC818}">
      <dgm:prSet/>
      <dgm:spPr/>
      <dgm:t>
        <a:bodyPr/>
        <a:lstStyle/>
        <a:p>
          <a:endParaRPr lang="en-US"/>
        </a:p>
      </dgm:t>
    </dgm:pt>
    <dgm:pt modelId="{54F2C9FB-E9E7-4672-B7FC-2B393C6913BA}" type="pres">
      <dgm:prSet presAssocID="{80CD77ED-F951-47C6-97A2-3636ACE60A7F}" presName="diagram" presStyleCnt="0">
        <dgm:presLayoutVars>
          <dgm:dir/>
          <dgm:resizeHandles val="exact"/>
        </dgm:presLayoutVars>
      </dgm:prSet>
      <dgm:spPr/>
    </dgm:pt>
    <dgm:pt modelId="{E03A54BF-A7E8-4B9C-B847-1DF57E911B19}" type="pres">
      <dgm:prSet presAssocID="{463772A6-773E-4DFB-8CE3-7F6A114D3E1A}" presName="node" presStyleLbl="node1" presStyleIdx="0" presStyleCnt="9">
        <dgm:presLayoutVars>
          <dgm:bulletEnabled val="1"/>
        </dgm:presLayoutVars>
      </dgm:prSet>
      <dgm:spPr/>
    </dgm:pt>
    <dgm:pt modelId="{B00342C6-26B9-4C25-A2AE-6D8A70CE360C}" type="pres">
      <dgm:prSet presAssocID="{D69A3682-D7ED-4ED2-955B-BA0888C5501E}" presName="sibTrans" presStyleCnt="0"/>
      <dgm:spPr/>
    </dgm:pt>
    <dgm:pt modelId="{21181FFA-5936-48DA-917C-95FE11C4F5A8}" type="pres">
      <dgm:prSet presAssocID="{9F78BA80-7507-4B4F-BF98-92FE56F2C0F3}" presName="node" presStyleLbl="node1" presStyleIdx="1" presStyleCnt="9">
        <dgm:presLayoutVars>
          <dgm:bulletEnabled val="1"/>
        </dgm:presLayoutVars>
      </dgm:prSet>
      <dgm:spPr/>
    </dgm:pt>
    <dgm:pt modelId="{400A7D8D-F2CC-430F-937C-4247EA9BF5B4}" type="pres">
      <dgm:prSet presAssocID="{06D67209-C623-403C-BE90-F3861EEE97F1}" presName="sibTrans" presStyleCnt="0"/>
      <dgm:spPr/>
    </dgm:pt>
    <dgm:pt modelId="{5E13C7FE-916C-4786-AD4C-0A6E877D3334}" type="pres">
      <dgm:prSet presAssocID="{540AAC0A-67B6-4CC8-92B5-730CD4786783}" presName="node" presStyleLbl="node1" presStyleIdx="2" presStyleCnt="9">
        <dgm:presLayoutVars>
          <dgm:bulletEnabled val="1"/>
        </dgm:presLayoutVars>
      </dgm:prSet>
      <dgm:spPr/>
    </dgm:pt>
    <dgm:pt modelId="{B37B15FA-28AD-41E6-ADD7-6F2584E1CD94}" type="pres">
      <dgm:prSet presAssocID="{0875FF30-48EC-431F-8F81-195497A92899}" presName="sibTrans" presStyleCnt="0"/>
      <dgm:spPr/>
    </dgm:pt>
    <dgm:pt modelId="{7AAB0310-BFF0-4DC3-AC1A-AEFDC594A2B1}" type="pres">
      <dgm:prSet presAssocID="{DC34A910-99FE-4B3B-8F75-78AA77E40B71}" presName="node" presStyleLbl="node1" presStyleIdx="3" presStyleCnt="9">
        <dgm:presLayoutVars>
          <dgm:bulletEnabled val="1"/>
        </dgm:presLayoutVars>
      </dgm:prSet>
      <dgm:spPr/>
    </dgm:pt>
    <dgm:pt modelId="{EAE52B2D-E303-4544-884D-0E0176873897}" type="pres">
      <dgm:prSet presAssocID="{3CA41321-1115-44A7-BA54-0803B656EE6C}" presName="sibTrans" presStyleCnt="0"/>
      <dgm:spPr/>
    </dgm:pt>
    <dgm:pt modelId="{7BFE3FB9-876E-48B5-B1C2-F1195A279A53}" type="pres">
      <dgm:prSet presAssocID="{FFE1407A-B0A3-4FDE-A18F-B21D6363F3BA}" presName="node" presStyleLbl="node1" presStyleIdx="4" presStyleCnt="9">
        <dgm:presLayoutVars>
          <dgm:bulletEnabled val="1"/>
        </dgm:presLayoutVars>
      </dgm:prSet>
      <dgm:spPr/>
    </dgm:pt>
    <dgm:pt modelId="{3AB5F437-6488-45F6-9B61-40EE66183AE3}" type="pres">
      <dgm:prSet presAssocID="{72DE9F77-01F8-4A1B-B9B2-1630B9F9B5FE}" presName="sibTrans" presStyleCnt="0"/>
      <dgm:spPr/>
    </dgm:pt>
    <dgm:pt modelId="{4AF684B0-2998-458C-A914-4FC171D60BE0}" type="pres">
      <dgm:prSet presAssocID="{A02AAE2D-2D95-495C-8EAF-B6A8F226639A}" presName="node" presStyleLbl="node1" presStyleIdx="5" presStyleCnt="9">
        <dgm:presLayoutVars>
          <dgm:bulletEnabled val="1"/>
        </dgm:presLayoutVars>
      </dgm:prSet>
      <dgm:spPr/>
    </dgm:pt>
    <dgm:pt modelId="{3DB1325B-160D-4EB9-83AF-A99F1E6236E8}" type="pres">
      <dgm:prSet presAssocID="{A81ADE69-8E1A-409B-8481-CC241C15AC9E}" presName="sibTrans" presStyleCnt="0"/>
      <dgm:spPr/>
    </dgm:pt>
    <dgm:pt modelId="{0C071C4A-E046-4F9F-9506-C92233B1D97C}" type="pres">
      <dgm:prSet presAssocID="{570633C1-880B-40FF-A6F2-40EE6761A612}" presName="node" presStyleLbl="node1" presStyleIdx="6" presStyleCnt="9">
        <dgm:presLayoutVars>
          <dgm:bulletEnabled val="1"/>
        </dgm:presLayoutVars>
      </dgm:prSet>
      <dgm:spPr/>
    </dgm:pt>
    <dgm:pt modelId="{AE0CBAFA-AD98-43EE-87D5-9157E6D369FB}" type="pres">
      <dgm:prSet presAssocID="{DEAEFD84-326B-497F-A802-7396A17069E3}" presName="sibTrans" presStyleCnt="0"/>
      <dgm:spPr/>
    </dgm:pt>
    <dgm:pt modelId="{E245AB17-1325-447F-A7AF-5AC68F739290}" type="pres">
      <dgm:prSet presAssocID="{D847455A-6DC8-4615-8F8D-6E0E62F55506}" presName="node" presStyleLbl="node1" presStyleIdx="7" presStyleCnt="9">
        <dgm:presLayoutVars>
          <dgm:bulletEnabled val="1"/>
        </dgm:presLayoutVars>
      </dgm:prSet>
      <dgm:spPr/>
    </dgm:pt>
    <dgm:pt modelId="{05CB2046-9AA1-4F0E-9FF7-1D3981416FF4}" type="pres">
      <dgm:prSet presAssocID="{DEF7454A-05F3-4E98-8184-5C0856EB8A28}" presName="sibTrans" presStyleCnt="0"/>
      <dgm:spPr/>
    </dgm:pt>
    <dgm:pt modelId="{0C3B9DC7-78B8-499D-B150-AFFF1CF9C3E6}" type="pres">
      <dgm:prSet presAssocID="{05C7A136-EE3B-4A01-8C27-0FDAEA59E6FE}" presName="node" presStyleLbl="node1" presStyleIdx="8" presStyleCnt="9">
        <dgm:presLayoutVars>
          <dgm:bulletEnabled val="1"/>
        </dgm:presLayoutVars>
      </dgm:prSet>
      <dgm:spPr/>
    </dgm:pt>
  </dgm:ptLst>
  <dgm:cxnLst>
    <dgm:cxn modelId="{45B81700-7AA3-422A-B384-F6D5BA35D26D}" srcId="{80CD77ED-F951-47C6-97A2-3636ACE60A7F}" destId="{A02AAE2D-2D95-495C-8EAF-B6A8F226639A}" srcOrd="5" destOrd="0" parTransId="{DDE4F462-55B9-4FD3-8C3C-F88BB5A5B902}" sibTransId="{A81ADE69-8E1A-409B-8481-CC241C15AC9E}"/>
    <dgm:cxn modelId="{F88E2E01-405D-4EC4-8648-B6CEDD8FD086}" srcId="{80CD77ED-F951-47C6-97A2-3636ACE60A7F}" destId="{463772A6-773E-4DFB-8CE3-7F6A114D3E1A}" srcOrd="0" destOrd="0" parTransId="{371117D2-C7DF-4601-AFED-CFD0CA961E71}" sibTransId="{D69A3682-D7ED-4ED2-955B-BA0888C5501E}"/>
    <dgm:cxn modelId="{60E22C0D-80D7-49FC-9B1A-20E5C6B69FDC}" type="presOf" srcId="{463772A6-773E-4DFB-8CE3-7F6A114D3E1A}" destId="{E03A54BF-A7E8-4B9C-B847-1DF57E911B19}" srcOrd="0" destOrd="0" presId="urn:microsoft.com/office/officeart/2005/8/layout/default"/>
    <dgm:cxn modelId="{BE95F716-9DE5-4E45-AEF9-8CFBA5DAC818}" srcId="{80CD77ED-F951-47C6-97A2-3636ACE60A7F}" destId="{05C7A136-EE3B-4A01-8C27-0FDAEA59E6FE}" srcOrd="8" destOrd="0" parTransId="{E547A48F-9454-444C-B10E-175E4A68C58D}" sibTransId="{5FF01019-CD17-4411-ADDD-A60152A4D2E4}"/>
    <dgm:cxn modelId="{CC423C19-1E78-4DD4-B47F-E757705ADEA2}" srcId="{80CD77ED-F951-47C6-97A2-3636ACE60A7F}" destId="{D847455A-6DC8-4615-8F8D-6E0E62F55506}" srcOrd="7" destOrd="0" parTransId="{E79F20B2-EA9C-471D-B199-6ED6974B9C6F}" sibTransId="{DEF7454A-05F3-4E98-8184-5C0856EB8A28}"/>
    <dgm:cxn modelId="{5DE1C01F-6A6E-4317-AE48-BF5DB9F8082A}" type="presOf" srcId="{9F78BA80-7507-4B4F-BF98-92FE56F2C0F3}" destId="{21181FFA-5936-48DA-917C-95FE11C4F5A8}" srcOrd="0" destOrd="0" presId="urn:microsoft.com/office/officeart/2005/8/layout/default"/>
    <dgm:cxn modelId="{BEDB5438-E726-4470-A39F-D5EF75E681D7}" type="presOf" srcId="{D847455A-6DC8-4615-8F8D-6E0E62F55506}" destId="{E245AB17-1325-447F-A7AF-5AC68F739290}" srcOrd="0" destOrd="0" presId="urn:microsoft.com/office/officeart/2005/8/layout/default"/>
    <dgm:cxn modelId="{F83D483C-98DF-40A2-A432-C88D020B0ADB}" type="presOf" srcId="{570633C1-880B-40FF-A6F2-40EE6761A612}" destId="{0C071C4A-E046-4F9F-9506-C92233B1D97C}" srcOrd="0" destOrd="0" presId="urn:microsoft.com/office/officeart/2005/8/layout/default"/>
    <dgm:cxn modelId="{7FC2144A-2792-4E97-8F01-F0ABFD21EF23}" type="presOf" srcId="{05C7A136-EE3B-4A01-8C27-0FDAEA59E6FE}" destId="{0C3B9DC7-78B8-499D-B150-AFFF1CF9C3E6}" srcOrd="0" destOrd="0" presId="urn:microsoft.com/office/officeart/2005/8/layout/default"/>
    <dgm:cxn modelId="{1BF1164F-AE27-42E1-A490-3AFCAD009052}" srcId="{80CD77ED-F951-47C6-97A2-3636ACE60A7F}" destId="{9F78BA80-7507-4B4F-BF98-92FE56F2C0F3}" srcOrd="1" destOrd="0" parTransId="{B7261AEA-6B55-437F-80F2-D9B20EE1347F}" sibTransId="{06D67209-C623-403C-BE90-F3861EEE97F1}"/>
    <dgm:cxn modelId="{1055836F-59E8-4845-A8FC-1B9DC31C59C0}" type="presOf" srcId="{DC34A910-99FE-4B3B-8F75-78AA77E40B71}" destId="{7AAB0310-BFF0-4DC3-AC1A-AEFDC594A2B1}" srcOrd="0" destOrd="0" presId="urn:microsoft.com/office/officeart/2005/8/layout/default"/>
    <dgm:cxn modelId="{07CBD093-637C-49CF-A3CB-AF8730432AFC}" srcId="{80CD77ED-F951-47C6-97A2-3636ACE60A7F}" destId="{FFE1407A-B0A3-4FDE-A18F-B21D6363F3BA}" srcOrd="4" destOrd="0" parTransId="{8EE273FE-D5CD-4D79-9DE3-FF20CC9AC60D}" sibTransId="{72DE9F77-01F8-4A1B-B9B2-1630B9F9B5FE}"/>
    <dgm:cxn modelId="{E29A4695-09A1-49D7-A789-06882AEDA6D7}" type="presOf" srcId="{540AAC0A-67B6-4CC8-92B5-730CD4786783}" destId="{5E13C7FE-916C-4786-AD4C-0A6E877D3334}" srcOrd="0" destOrd="0" presId="urn:microsoft.com/office/officeart/2005/8/layout/default"/>
    <dgm:cxn modelId="{A50C0EA9-AAEC-4471-AFCF-7386A84FAFB7}" srcId="{80CD77ED-F951-47C6-97A2-3636ACE60A7F}" destId="{540AAC0A-67B6-4CC8-92B5-730CD4786783}" srcOrd="2" destOrd="0" parTransId="{AC0ED3F7-CE84-48A2-B3CE-07F025B0EAD9}" sibTransId="{0875FF30-48EC-431F-8F81-195497A92899}"/>
    <dgm:cxn modelId="{4A1472AD-4D2F-4C5F-9305-3CD806B9D816}" type="presOf" srcId="{FFE1407A-B0A3-4FDE-A18F-B21D6363F3BA}" destId="{7BFE3FB9-876E-48B5-B1C2-F1195A279A53}" srcOrd="0" destOrd="0" presId="urn:microsoft.com/office/officeart/2005/8/layout/default"/>
    <dgm:cxn modelId="{394372B5-4533-4C08-A00A-8C3AE8E1E693}" srcId="{80CD77ED-F951-47C6-97A2-3636ACE60A7F}" destId="{DC34A910-99FE-4B3B-8F75-78AA77E40B71}" srcOrd="3" destOrd="0" parTransId="{C5FAF734-FDCA-43E3-9826-87CA21C35EAD}" sibTransId="{3CA41321-1115-44A7-BA54-0803B656EE6C}"/>
    <dgm:cxn modelId="{AB497CD3-313E-4B13-997B-FF85608AFA8C}" type="presOf" srcId="{80CD77ED-F951-47C6-97A2-3636ACE60A7F}" destId="{54F2C9FB-E9E7-4672-B7FC-2B393C6913BA}" srcOrd="0" destOrd="0" presId="urn:microsoft.com/office/officeart/2005/8/layout/default"/>
    <dgm:cxn modelId="{71CF52DC-ED79-4522-8734-E62753F1B9C4}" type="presOf" srcId="{A02AAE2D-2D95-495C-8EAF-B6A8F226639A}" destId="{4AF684B0-2998-458C-A914-4FC171D60BE0}" srcOrd="0" destOrd="0" presId="urn:microsoft.com/office/officeart/2005/8/layout/default"/>
    <dgm:cxn modelId="{B5FC2DE5-AA76-48EA-B5F1-0291EADDE089}" srcId="{80CD77ED-F951-47C6-97A2-3636ACE60A7F}" destId="{570633C1-880B-40FF-A6F2-40EE6761A612}" srcOrd="6" destOrd="0" parTransId="{10633EEB-DF94-497A-92AC-86F2B289A977}" sibTransId="{DEAEFD84-326B-497F-A802-7396A17069E3}"/>
    <dgm:cxn modelId="{7BE9A971-15C5-4D6A-8B63-326C5E3AD3E0}" type="presParOf" srcId="{54F2C9FB-E9E7-4672-B7FC-2B393C6913BA}" destId="{E03A54BF-A7E8-4B9C-B847-1DF57E911B19}" srcOrd="0" destOrd="0" presId="urn:microsoft.com/office/officeart/2005/8/layout/default"/>
    <dgm:cxn modelId="{DCD748DD-9579-4C95-886F-FD12B1A99B7D}" type="presParOf" srcId="{54F2C9FB-E9E7-4672-B7FC-2B393C6913BA}" destId="{B00342C6-26B9-4C25-A2AE-6D8A70CE360C}" srcOrd="1" destOrd="0" presId="urn:microsoft.com/office/officeart/2005/8/layout/default"/>
    <dgm:cxn modelId="{DD1CC3D3-31F0-4833-99C0-65A2AFE549CF}" type="presParOf" srcId="{54F2C9FB-E9E7-4672-B7FC-2B393C6913BA}" destId="{21181FFA-5936-48DA-917C-95FE11C4F5A8}" srcOrd="2" destOrd="0" presId="urn:microsoft.com/office/officeart/2005/8/layout/default"/>
    <dgm:cxn modelId="{2F823E82-3504-4C19-9C34-EDF5CCAB5256}" type="presParOf" srcId="{54F2C9FB-E9E7-4672-B7FC-2B393C6913BA}" destId="{400A7D8D-F2CC-430F-937C-4247EA9BF5B4}" srcOrd="3" destOrd="0" presId="urn:microsoft.com/office/officeart/2005/8/layout/default"/>
    <dgm:cxn modelId="{398DBC2B-B129-46A7-9919-92E79AAD154D}" type="presParOf" srcId="{54F2C9FB-E9E7-4672-B7FC-2B393C6913BA}" destId="{5E13C7FE-916C-4786-AD4C-0A6E877D3334}" srcOrd="4" destOrd="0" presId="urn:microsoft.com/office/officeart/2005/8/layout/default"/>
    <dgm:cxn modelId="{D4620DAD-EB05-4E31-879B-3F0CE786BB5D}" type="presParOf" srcId="{54F2C9FB-E9E7-4672-B7FC-2B393C6913BA}" destId="{B37B15FA-28AD-41E6-ADD7-6F2584E1CD94}" srcOrd="5" destOrd="0" presId="urn:microsoft.com/office/officeart/2005/8/layout/default"/>
    <dgm:cxn modelId="{52EB1339-BDAF-481A-934A-B4BEEE8C3ABD}" type="presParOf" srcId="{54F2C9FB-E9E7-4672-B7FC-2B393C6913BA}" destId="{7AAB0310-BFF0-4DC3-AC1A-AEFDC594A2B1}" srcOrd="6" destOrd="0" presId="urn:microsoft.com/office/officeart/2005/8/layout/default"/>
    <dgm:cxn modelId="{7F71F573-3BD9-41EB-82FC-9A690B14DDED}" type="presParOf" srcId="{54F2C9FB-E9E7-4672-B7FC-2B393C6913BA}" destId="{EAE52B2D-E303-4544-884D-0E0176873897}" srcOrd="7" destOrd="0" presId="urn:microsoft.com/office/officeart/2005/8/layout/default"/>
    <dgm:cxn modelId="{6985366E-D660-41F6-B64E-3E8A1E59CBC4}" type="presParOf" srcId="{54F2C9FB-E9E7-4672-B7FC-2B393C6913BA}" destId="{7BFE3FB9-876E-48B5-B1C2-F1195A279A53}" srcOrd="8" destOrd="0" presId="urn:microsoft.com/office/officeart/2005/8/layout/default"/>
    <dgm:cxn modelId="{AB912657-5FAD-4126-97B9-04EF601C5FD7}" type="presParOf" srcId="{54F2C9FB-E9E7-4672-B7FC-2B393C6913BA}" destId="{3AB5F437-6488-45F6-9B61-40EE66183AE3}" srcOrd="9" destOrd="0" presId="urn:microsoft.com/office/officeart/2005/8/layout/default"/>
    <dgm:cxn modelId="{23226DDA-61C3-4F2E-BCA6-7894437178D0}" type="presParOf" srcId="{54F2C9FB-E9E7-4672-B7FC-2B393C6913BA}" destId="{4AF684B0-2998-458C-A914-4FC171D60BE0}" srcOrd="10" destOrd="0" presId="urn:microsoft.com/office/officeart/2005/8/layout/default"/>
    <dgm:cxn modelId="{8A98B659-E8B5-4B09-AE68-3A34CC56EC1C}" type="presParOf" srcId="{54F2C9FB-E9E7-4672-B7FC-2B393C6913BA}" destId="{3DB1325B-160D-4EB9-83AF-A99F1E6236E8}" srcOrd="11" destOrd="0" presId="urn:microsoft.com/office/officeart/2005/8/layout/default"/>
    <dgm:cxn modelId="{A2D32B4E-8EC1-4883-8D13-409A2210729D}" type="presParOf" srcId="{54F2C9FB-E9E7-4672-B7FC-2B393C6913BA}" destId="{0C071C4A-E046-4F9F-9506-C92233B1D97C}" srcOrd="12" destOrd="0" presId="urn:microsoft.com/office/officeart/2005/8/layout/default"/>
    <dgm:cxn modelId="{2B461C0B-1E7A-45FC-ADD3-C067B64E3251}" type="presParOf" srcId="{54F2C9FB-E9E7-4672-B7FC-2B393C6913BA}" destId="{AE0CBAFA-AD98-43EE-87D5-9157E6D369FB}" srcOrd="13" destOrd="0" presId="urn:microsoft.com/office/officeart/2005/8/layout/default"/>
    <dgm:cxn modelId="{85A1A6BB-2796-427B-893A-BBB61B596C18}" type="presParOf" srcId="{54F2C9FB-E9E7-4672-B7FC-2B393C6913BA}" destId="{E245AB17-1325-447F-A7AF-5AC68F739290}" srcOrd="14" destOrd="0" presId="urn:microsoft.com/office/officeart/2005/8/layout/default"/>
    <dgm:cxn modelId="{4ED5996A-9480-488E-A75E-E3F44A7BC482}" type="presParOf" srcId="{54F2C9FB-E9E7-4672-B7FC-2B393C6913BA}" destId="{05CB2046-9AA1-4F0E-9FF7-1D3981416FF4}" srcOrd="15" destOrd="0" presId="urn:microsoft.com/office/officeart/2005/8/layout/default"/>
    <dgm:cxn modelId="{FAA1C1C1-C606-4874-A9F8-A7E79AD2BA95}" type="presParOf" srcId="{54F2C9FB-E9E7-4672-B7FC-2B393C6913BA}" destId="{0C3B9DC7-78B8-499D-B150-AFFF1CF9C3E6}"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542345-E58E-45BB-9030-02EAA7277118}" type="doc">
      <dgm:prSet loTypeId="urn:microsoft.com/office/officeart/2005/8/layout/hierarchy1" loCatId="hierarchy" qsTypeId="urn:microsoft.com/office/officeart/2005/8/quickstyle/simple1" qsCatId="simple" csTypeId="urn:microsoft.com/office/officeart/2005/8/colors/accent6_2" csCatId="accent6" phldr="1"/>
      <dgm:spPr/>
      <dgm:t>
        <a:bodyPr/>
        <a:lstStyle/>
        <a:p>
          <a:endParaRPr lang="en-US"/>
        </a:p>
      </dgm:t>
    </dgm:pt>
    <dgm:pt modelId="{2A40DA08-1E33-47AF-B275-AA70343A5985}">
      <dgm:prSet/>
      <dgm:spPr/>
      <dgm:t>
        <a:bodyPr/>
        <a:lstStyle/>
        <a:p>
          <a:r>
            <a:rPr lang="en-US" b="0" dirty="0"/>
            <a:t>Hire Vue</a:t>
          </a:r>
          <a:r>
            <a:rPr lang="en-US" dirty="0"/>
            <a:t> </a:t>
          </a:r>
        </a:p>
      </dgm:t>
    </dgm:pt>
    <dgm:pt modelId="{1F8D314D-325F-4E44-8D6C-AD1259DDCA5B}" type="parTrans" cxnId="{91585FBF-2417-4687-BD97-E22D30854CC8}">
      <dgm:prSet/>
      <dgm:spPr/>
      <dgm:t>
        <a:bodyPr/>
        <a:lstStyle/>
        <a:p>
          <a:endParaRPr lang="en-US"/>
        </a:p>
      </dgm:t>
    </dgm:pt>
    <dgm:pt modelId="{14C506C0-A09E-49CA-89EA-B39F4C2F9C55}" type="sibTrans" cxnId="{91585FBF-2417-4687-BD97-E22D30854CC8}">
      <dgm:prSet/>
      <dgm:spPr/>
      <dgm:t>
        <a:bodyPr/>
        <a:lstStyle/>
        <a:p>
          <a:endParaRPr lang="en-US"/>
        </a:p>
      </dgm:t>
    </dgm:pt>
    <dgm:pt modelId="{8E529F9E-D4CF-423C-BC0D-30E0B759C84F}">
      <dgm:prSet/>
      <dgm:spPr/>
      <dgm:t>
        <a:bodyPr/>
        <a:lstStyle/>
        <a:p>
          <a:r>
            <a:rPr lang="en-US" dirty="0"/>
            <a:t>ML models classify candidates based on skills, experience, keywords</a:t>
          </a:r>
        </a:p>
      </dgm:t>
    </dgm:pt>
    <dgm:pt modelId="{86F6B102-0495-4EE6-A6FA-4BBF069220F0}" type="parTrans" cxnId="{2A49F335-3A18-42E1-9468-21243629A04A}">
      <dgm:prSet/>
      <dgm:spPr/>
      <dgm:t>
        <a:bodyPr/>
        <a:lstStyle/>
        <a:p>
          <a:endParaRPr lang="en-US"/>
        </a:p>
      </dgm:t>
    </dgm:pt>
    <dgm:pt modelId="{120D3187-C444-4949-9E8A-6DE9E113BCCE}" type="sibTrans" cxnId="{2A49F335-3A18-42E1-9468-21243629A04A}">
      <dgm:prSet/>
      <dgm:spPr/>
      <dgm:t>
        <a:bodyPr/>
        <a:lstStyle/>
        <a:p>
          <a:endParaRPr lang="en-US"/>
        </a:p>
      </dgm:t>
    </dgm:pt>
    <dgm:pt modelId="{F49D84A2-8ED6-4C93-B628-6AD49754EE7D}" type="pres">
      <dgm:prSet presAssocID="{AA542345-E58E-45BB-9030-02EAA7277118}" presName="hierChild1" presStyleCnt="0">
        <dgm:presLayoutVars>
          <dgm:chPref val="1"/>
          <dgm:dir/>
          <dgm:animOne val="branch"/>
          <dgm:animLvl val="lvl"/>
          <dgm:resizeHandles/>
        </dgm:presLayoutVars>
      </dgm:prSet>
      <dgm:spPr/>
    </dgm:pt>
    <dgm:pt modelId="{2D6BABE2-2C5D-4CA4-99CB-E27F2A7ADEB6}" type="pres">
      <dgm:prSet presAssocID="{2A40DA08-1E33-47AF-B275-AA70343A5985}" presName="hierRoot1" presStyleCnt="0"/>
      <dgm:spPr/>
    </dgm:pt>
    <dgm:pt modelId="{EC53AC1E-1034-4E5B-921E-43042167F45E}" type="pres">
      <dgm:prSet presAssocID="{2A40DA08-1E33-47AF-B275-AA70343A5985}" presName="composite" presStyleCnt="0"/>
      <dgm:spPr/>
    </dgm:pt>
    <dgm:pt modelId="{4951A2D3-BBF9-48B2-A7B8-002EB23336DA}" type="pres">
      <dgm:prSet presAssocID="{2A40DA08-1E33-47AF-B275-AA70343A5985}" presName="background" presStyleLbl="node0" presStyleIdx="0" presStyleCnt="2"/>
      <dgm:spPr/>
    </dgm:pt>
    <dgm:pt modelId="{DB52674D-4B08-4D5F-BC35-18FCA588534C}" type="pres">
      <dgm:prSet presAssocID="{2A40DA08-1E33-47AF-B275-AA70343A5985}" presName="text" presStyleLbl="fgAcc0" presStyleIdx="0" presStyleCnt="2">
        <dgm:presLayoutVars>
          <dgm:chPref val="3"/>
        </dgm:presLayoutVars>
      </dgm:prSet>
      <dgm:spPr/>
    </dgm:pt>
    <dgm:pt modelId="{898CE195-0415-46D4-91FB-994F2230C215}" type="pres">
      <dgm:prSet presAssocID="{2A40DA08-1E33-47AF-B275-AA70343A5985}" presName="hierChild2" presStyleCnt="0"/>
      <dgm:spPr/>
    </dgm:pt>
    <dgm:pt modelId="{D9B3A0A3-F91D-4B72-8C42-63D717136B76}" type="pres">
      <dgm:prSet presAssocID="{8E529F9E-D4CF-423C-BC0D-30E0B759C84F}" presName="hierRoot1" presStyleCnt="0"/>
      <dgm:spPr/>
    </dgm:pt>
    <dgm:pt modelId="{72065BEF-DB8D-4B01-B3DD-10EAD852FBF5}" type="pres">
      <dgm:prSet presAssocID="{8E529F9E-D4CF-423C-BC0D-30E0B759C84F}" presName="composite" presStyleCnt="0"/>
      <dgm:spPr/>
    </dgm:pt>
    <dgm:pt modelId="{80E721F8-E775-4D1E-9F50-5797B4E7DBB7}" type="pres">
      <dgm:prSet presAssocID="{8E529F9E-D4CF-423C-BC0D-30E0B759C84F}" presName="background" presStyleLbl="node0" presStyleIdx="1" presStyleCnt="2"/>
      <dgm:spPr/>
    </dgm:pt>
    <dgm:pt modelId="{BD5B80FA-5C3D-480F-8C8E-253E1EB1A3AD}" type="pres">
      <dgm:prSet presAssocID="{8E529F9E-D4CF-423C-BC0D-30E0B759C84F}" presName="text" presStyleLbl="fgAcc0" presStyleIdx="1" presStyleCnt="2">
        <dgm:presLayoutVars>
          <dgm:chPref val="3"/>
        </dgm:presLayoutVars>
      </dgm:prSet>
      <dgm:spPr/>
    </dgm:pt>
    <dgm:pt modelId="{A9BFCC52-BD80-4539-8B84-E24C2873681D}" type="pres">
      <dgm:prSet presAssocID="{8E529F9E-D4CF-423C-BC0D-30E0B759C84F}" presName="hierChild2" presStyleCnt="0"/>
      <dgm:spPr/>
    </dgm:pt>
  </dgm:ptLst>
  <dgm:cxnLst>
    <dgm:cxn modelId="{2A49F335-3A18-42E1-9468-21243629A04A}" srcId="{AA542345-E58E-45BB-9030-02EAA7277118}" destId="{8E529F9E-D4CF-423C-BC0D-30E0B759C84F}" srcOrd="1" destOrd="0" parTransId="{86F6B102-0495-4EE6-A6FA-4BBF069220F0}" sibTransId="{120D3187-C444-4949-9E8A-6DE9E113BCCE}"/>
    <dgm:cxn modelId="{529D3C61-5375-4B5F-95D2-1E5F191BA183}" type="presOf" srcId="{2A40DA08-1E33-47AF-B275-AA70343A5985}" destId="{DB52674D-4B08-4D5F-BC35-18FCA588534C}" srcOrd="0" destOrd="0" presId="urn:microsoft.com/office/officeart/2005/8/layout/hierarchy1"/>
    <dgm:cxn modelId="{EFE67A58-F375-498B-A296-C2BDC7F89EE8}" type="presOf" srcId="{AA542345-E58E-45BB-9030-02EAA7277118}" destId="{F49D84A2-8ED6-4C93-B628-6AD49754EE7D}" srcOrd="0" destOrd="0" presId="urn:microsoft.com/office/officeart/2005/8/layout/hierarchy1"/>
    <dgm:cxn modelId="{91585FBF-2417-4687-BD97-E22D30854CC8}" srcId="{AA542345-E58E-45BB-9030-02EAA7277118}" destId="{2A40DA08-1E33-47AF-B275-AA70343A5985}" srcOrd="0" destOrd="0" parTransId="{1F8D314D-325F-4E44-8D6C-AD1259DDCA5B}" sibTransId="{14C506C0-A09E-49CA-89EA-B39F4C2F9C55}"/>
    <dgm:cxn modelId="{C97EA0CD-86C5-47FD-8671-33BEC84435A2}" type="presOf" srcId="{8E529F9E-D4CF-423C-BC0D-30E0B759C84F}" destId="{BD5B80FA-5C3D-480F-8C8E-253E1EB1A3AD}" srcOrd="0" destOrd="0" presId="urn:microsoft.com/office/officeart/2005/8/layout/hierarchy1"/>
    <dgm:cxn modelId="{4C4B74DF-930E-4013-B539-2A640610BD61}" type="presParOf" srcId="{F49D84A2-8ED6-4C93-B628-6AD49754EE7D}" destId="{2D6BABE2-2C5D-4CA4-99CB-E27F2A7ADEB6}" srcOrd="0" destOrd="0" presId="urn:microsoft.com/office/officeart/2005/8/layout/hierarchy1"/>
    <dgm:cxn modelId="{4348FE28-7C1F-4C0C-9A2C-A24C8D365C31}" type="presParOf" srcId="{2D6BABE2-2C5D-4CA4-99CB-E27F2A7ADEB6}" destId="{EC53AC1E-1034-4E5B-921E-43042167F45E}" srcOrd="0" destOrd="0" presId="urn:microsoft.com/office/officeart/2005/8/layout/hierarchy1"/>
    <dgm:cxn modelId="{63E6A40C-4D40-4A39-981B-28DB5F1631DF}" type="presParOf" srcId="{EC53AC1E-1034-4E5B-921E-43042167F45E}" destId="{4951A2D3-BBF9-48B2-A7B8-002EB23336DA}" srcOrd="0" destOrd="0" presId="urn:microsoft.com/office/officeart/2005/8/layout/hierarchy1"/>
    <dgm:cxn modelId="{D9F946C5-65C6-4C01-BF82-DB138758C24B}" type="presParOf" srcId="{EC53AC1E-1034-4E5B-921E-43042167F45E}" destId="{DB52674D-4B08-4D5F-BC35-18FCA588534C}" srcOrd="1" destOrd="0" presId="urn:microsoft.com/office/officeart/2005/8/layout/hierarchy1"/>
    <dgm:cxn modelId="{2751A206-32B6-481E-93F5-B5B79E775D5B}" type="presParOf" srcId="{2D6BABE2-2C5D-4CA4-99CB-E27F2A7ADEB6}" destId="{898CE195-0415-46D4-91FB-994F2230C215}" srcOrd="1" destOrd="0" presId="urn:microsoft.com/office/officeart/2005/8/layout/hierarchy1"/>
    <dgm:cxn modelId="{FCA6E1EE-F4FA-40F2-822C-0FBEBC308E8A}" type="presParOf" srcId="{F49D84A2-8ED6-4C93-B628-6AD49754EE7D}" destId="{D9B3A0A3-F91D-4B72-8C42-63D717136B76}" srcOrd="1" destOrd="0" presId="urn:microsoft.com/office/officeart/2005/8/layout/hierarchy1"/>
    <dgm:cxn modelId="{C668B681-0B22-4141-8BD2-5F131D63DE63}" type="presParOf" srcId="{D9B3A0A3-F91D-4B72-8C42-63D717136B76}" destId="{72065BEF-DB8D-4B01-B3DD-10EAD852FBF5}" srcOrd="0" destOrd="0" presId="urn:microsoft.com/office/officeart/2005/8/layout/hierarchy1"/>
    <dgm:cxn modelId="{8E73D75F-0BCF-4AD4-ADFC-A9DF0BA5F3D5}" type="presParOf" srcId="{72065BEF-DB8D-4B01-B3DD-10EAD852FBF5}" destId="{80E721F8-E775-4D1E-9F50-5797B4E7DBB7}" srcOrd="0" destOrd="0" presId="urn:microsoft.com/office/officeart/2005/8/layout/hierarchy1"/>
    <dgm:cxn modelId="{A5628540-962F-4C1F-B543-FB6CC5E6754D}" type="presParOf" srcId="{72065BEF-DB8D-4B01-B3DD-10EAD852FBF5}" destId="{BD5B80FA-5C3D-480F-8C8E-253E1EB1A3AD}" srcOrd="1" destOrd="0" presId="urn:microsoft.com/office/officeart/2005/8/layout/hierarchy1"/>
    <dgm:cxn modelId="{2C79545B-4779-4752-B082-0264AD5D3328}" type="presParOf" srcId="{D9B3A0A3-F91D-4B72-8C42-63D717136B76}" destId="{A9BFCC52-BD80-4539-8B84-E24C2873681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0DF720D-1A1B-4265-8F32-8263B39314B8}"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849F89C8-F671-4180-8E07-B8C112CB474E}">
      <dgm:prSet/>
      <dgm:spPr/>
      <dgm:t>
        <a:bodyPr/>
        <a:lstStyle/>
        <a:p>
          <a:r>
            <a:rPr lang="en-US"/>
            <a:t>Bais in AI Model</a:t>
          </a:r>
        </a:p>
      </dgm:t>
    </dgm:pt>
    <dgm:pt modelId="{3BE77379-4799-407E-B44E-E9F49EC0C0E9}" type="parTrans" cxnId="{E28CAEE7-80E3-4C07-9418-6EC33A3E5AAD}">
      <dgm:prSet/>
      <dgm:spPr/>
      <dgm:t>
        <a:bodyPr/>
        <a:lstStyle/>
        <a:p>
          <a:endParaRPr lang="en-US"/>
        </a:p>
      </dgm:t>
    </dgm:pt>
    <dgm:pt modelId="{7D9D0D01-2316-45EB-A03E-85D153BFD24B}" type="sibTrans" cxnId="{E28CAEE7-80E3-4C07-9418-6EC33A3E5AAD}">
      <dgm:prSet/>
      <dgm:spPr/>
      <dgm:t>
        <a:bodyPr/>
        <a:lstStyle/>
        <a:p>
          <a:endParaRPr lang="en-US"/>
        </a:p>
      </dgm:t>
    </dgm:pt>
    <dgm:pt modelId="{6D8BD6AE-F4F9-4DA3-A9FC-B9727F628063}">
      <dgm:prSet/>
      <dgm:spPr/>
      <dgm:t>
        <a:bodyPr/>
        <a:lstStyle/>
        <a:p>
          <a:r>
            <a:rPr lang="en-US"/>
            <a:t>Data Privacy Issues</a:t>
          </a:r>
        </a:p>
      </dgm:t>
    </dgm:pt>
    <dgm:pt modelId="{546F4B9B-38FA-4755-8FA1-E18B8842109F}" type="parTrans" cxnId="{8E2E8E02-2B05-4103-BD14-78472D32744C}">
      <dgm:prSet/>
      <dgm:spPr/>
      <dgm:t>
        <a:bodyPr/>
        <a:lstStyle/>
        <a:p>
          <a:endParaRPr lang="en-US"/>
        </a:p>
      </dgm:t>
    </dgm:pt>
    <dgm:pt modelId="{F701CB29-F38E-45A3-9B5D-5F3956703F68}" type="sibTrans" cxnId="{8E2E8E02-2B05-4103-BD14-78472D32744C}">
      <dgm:prSet/>
      <dgm:spPr/>
      <dgm:t>
        <a:bodyPr/>
        <a:lstStyle/>
        <a:p>
          <a:endParaRPr lang="en-US"/>
        </a:p>
      </dgm:t>
    </dgm:pt>
    <dgm:pt modelId="{75874315-F3BD-4F02-AF38-B9D1B848AA53}">
      <dgm:prSet/>
      <dgm:spPr/>
      <dgm:t>
        <a:bodyPr/>
        <a:lstStyle/>
        <a:p>
          <a:r>
            <a:rPr lang="en-US"/>
            <a:t>High implementation cost</a:t>
          </a:r>
        </a:p>
      </dgm:t>
    </dgm:pt>
    <dgm:pt modelId="{DC3E088D-DDE2-4EF5-889A-93DB029FEFAB}" type="parTrans" cxnId="{E0BB5B83-99E4-4F62-87C7-711DBD07672F}">
      <dgm:prSet/>
      <dgm:spPr/>
      <dgm:t>
        <a:bodyPr/>
        <a:lstStyle/>
        <a:p>
          <a:endParaRPr lang="en-US"/>
        </a:p>
      </dgm:t>
    </dgm:pt>
    <dgm:pt modelId="{6128A94D-A8E6-48B5-B8C7-1932C0F43990}" type="sibTrans" cxnId="{E0BB5B83-99E4-4F62-87C7-711DBD07672F}">
      <dgm:prSet/>
      <dgm:spPr/>
      <dgm:t>
        <a:bodyPr/>
        <a:lstStyle/>
        <a:p>
          <a:endParaRPr lang="en-US"/>
        </a:p>
      </dgm:t>
    </dgm:pt>
    <dgm:pt modelId="{C55760B4-FE42-4E1A-946E-F5CC85650EB5}">
      <dgm:prSet/>
      <dgm:spPr/>
      <dgm:t>
        <a:bodyPr/>
        <a:lstStyle/>
        <a:p>
          <a:r>
            <a:rPr lang="en-US"/>
            <a:t>Lack of Human touch</a:t>
          </a:r>
        </a:p>
      </dgm:t>
    </dgm:pt>
    <dgm:pt modelId="{65727EF5-272F-4874-95BC-E65AF782C4E9}" type="parTrans" cxnId="{5561D46E-FFAD-4D0B-83A5-3FD74990B86F}">
      <dgm:prSet/>
      <dgm:spPr/>
      <dgm:t>
        <a:bodyPr/>
        <a:lstStyle/>
        <a:p>
          <a:endParaRPr lang="en-US"/>
        </a:p>
      </dgm:t>
    </dgm:pt>
    <dgm:pt modelId="{5AE5D600-CF47-40AD-A2CC-3D50923EA77E}" type="sibTrans" cxnId="{5561D46E-FFAD-4D0B-83A5-3FD74990B86F}">
      <dgm:prSet/>
      <dgm:spPr/>
      <dgm:t>
        <a:bodyPr/>
        <a:lstStyle/>
        <a:p>
          <a:endParaRPr lang="en-US"/>
        </a:p>
      </dgm:t>
    </dgm:pt>
    <dgm:pt modelId="{0B96917F-64D2-4B88-A986-C1D62D6D8DBF}" type="pres">
      <dgm:prSet presAssocID="{10DF720D-1A1B-4265-8F32-8263B39314B8}" presName="hierChild1" presStyleCnt="0">
        <dgm:presLayoutVars>
          <dgm:chPref val="1"/>
          <dgm:dir/>
          <dgm:animOne val="branch"/>
          <dgm:animLvl val="lvl"/>
          <dgm:resizeHandles/>
        </dgm:presLayoutVars>
      </dgm:prSet>
      <dgm:spPr/>
    </dgm:pt>
    <dgm:pt modelId="{4E27A00F-35EE-4E2C-BF79-E3832D80C033}" type="pres">
      <dgm:prSet presAssocID="{849F89C8-F671-4180-8E07-B8C112CB474E}" presName="hierRoot1" presStyleCnt="0"/>
      <dgm:spPr/>
    </dgm:pt>
    <dgm:pt modelId="{D5E1E07E-B3BE-4A75-AF96-06B5AEBCD813}" type="pres">
      <dgm:prSet presAssocID="{849F89C8-F671-4180-8E07-B8C112CB474E}" presName="composite" presStyleCnt="0"/>
      <dgm:spPr/>
    </dgm:pt>
    <dgm:pt modelId="{2F0BDC1F-AEE9-4B64-8103-3A7D9F5191C3}" type="pres">
      <dgm:prSet presAssocID="{849F89C8-F671-4180-8E07-B8C112CB474E}" presName="background" presStyleLbl="node0" presStyleIdx="0" presStyleCnt="4"/>
      <dgm:spPr/>
    </dgm:pt>
    <dgm:pt modelId="{5392B0F6-5B71-4C84-A047-EA029768C4F8}" type="pres">
      <dgm:prSet presAssocID="{849F89C8-F671-4180-8E07-B8C112CB474E}" presName="text" presStyleLbl="fgAcc0" presStyleIdx="0" presStyleCnt="4">
        <dgm:presLayoutVars>
          <dgm:chPref val="3"/>
        </dgm:presLayoutVars>
      </dgm:prSet>
      <dgm:spPr/>
    </dgm:pt>
    <dgm:pt modelId="{A44D5F5B-F05F-4B88-986D-0FCE02DC6AD9}" type="pres">
      <dgm:prSet presAssocID="{849F89C8-F671-4180-8E07-B8C112CB474E}" presName="hierChild2" presStyleCnt="0"/>
      <dgm:spPr/>
    </dgm:pt>
    <dgm:pt modelId="{D6A270B2-A5EB-41AD-89BC-D01DB9F1D70F}" type="pres">
      <dgm:prSet presAssocID="{6D8BD6AE-F4F9-4DA3-A9FC-B9727F628063}" presName="hierRoot1" presStyleCnt="0"/>
      <dgm:spPr/>
    </dgm:pt>
    <dgm:pt modelId="{56FA8BC0-EFCE-4020-87C4-46B24B6CC43F}" type="pres">
      <dgm:prSet presAssocID="{6D8BD6AE-F4F9-4DA3-A9FC-B9727F628063}" presName="composite" presStyleCnt="0"/>
      <dgm:spPr/>
    </dgm:pt>
    <dgm:pt modelId="{97D90678-2270-4382-9B34-81C0EAD7CE56}" type="pres">
      <dgm:prSet presAssocID="{6D8BD6AE-F4F9-4DA3-A9FC-B9727F628063}" presName="background" presStyleLbl="node0" presStyleIdx="1" presStyleCnt="4"/>
      <dgm:spPr/>
    </dgm:pt>
    <dgm:pt modelId="{788D1F46-8437-4A06-86E1-9D2FD6F0D7AF}" type="pres">
      <dgm:prSet presAssocID="{6D8BD6AE-F4F9-4DA3-A9FC-B9727F628063}" presName="text" presStyleLbl="fgAcc0" presStyleIdx="1" presStyleCnt="4">
        <dgm:presLayoutVars>
          <dgm:chPref val="3"/>
        </dgm:presLayoutVars>
      </dgm:prSet>
      <dgm:spPr/>
    </dgm:pt>
    <dgm:pt modelId="{A540B4AB-807E-4DF4-A0A3-6DDEC89EC03D}" type="pres">
      <dgm:prSet presAssocID="{6D8BD6AE-F4F9-4DA3-A9FC-B9727F628063}" presName="hierChild2" presStyleCnt="0"/>
      <dgm:spPr/>
    </dgm:pt>
    <dgm:pt modelId="{75B65E7A-F158-403A-BCB5-D74CC3304DB2}" type="pres">
      <dgm:prSet presAssocID="{75874315-F3BD-4F02-AF38-B9D1B848AA53}" presName="hierRoot1" presStyleCnt="0"/>
      <dgm:spPr/>
    </dgm:pt>
    <dgm:pt modelId="{1E7AA562-4D56-4D16-9D45-C8E9399D7E08}" type="pres">
      <dgm:prSet presAssocID="{75874315-F3BD-4F02-AF38-B9D1B848AA53}" presName="composite" presStyleCnt="0"/>
      <dgm:spPr/>
    </dgm:pt>
    <dgm:pt modelId="{4DB4853F-0E30-437C-8BE1-4CD8EF82C105}" type="pres">
      <dgm:prSet presAssocID="{75874315-F3BD-4F02-AF38-B9D1B848AA53}" presName="background" presStyleLbl="node0" presStyleIdx="2" presStyleCnt="4"/>
      <dgm:spPr/>
    </dgm:pt>
    <dgm:pt modelId="{B2AFA0E1-95F0-4FBE-8321-B344B5A8EAF5}" type="pres">
      <dgm:prSet presAssocID="{75874315-F3BD-4F02-AF38-B9D1B848AA53}" presName="text" presStyleLbl="fgAcc0" presStyleIdx="2" presStyleCnt="4">
        <dgm:presLayoutVars>
          <dgm:chPref val="3"/>
        </dgm:presLayoutVars>
      </dgm:prSet>
      <dgm:spPr/>
    </dgm:pt>
    <dgm:pt modelId="{10A1DCE3-9FB5-44D8-A3D9-14A6E122C836}" type="pres">
      <dgm:prSet presAssocID="{75874315-F3BD-4F02-AF38-B9D1B848AA53}" presName="hierChild2" presStyleCnt="0"/>
      <dgm:spPr/>
    </dgm:pt>
    <dgm:pt modelId="{0CB655C9-206A-4E4E-B028-D8866834D056}" type="pres">
      <dgm:prSet presAssocID="{C55760B4-FE42-4E1A-946E-F5CC85650EB5}" presName="hierRoot1" presStyleCnt="0"/>
      <dgm:spPr/>
    </dgm:pt>
    <dgm:pt modelId="{D6B29C31-822E-4BC1-B3FA-7E1AB9F11A3B}" type="pres">
      <dgm:prSet presAssocID="{C55760B4-FE42-4E1A-946E-F5CC85650EB5}" presName="composite" presStyleCnt="0"/>
      <dgm:spPr/>
    </dgm:pt>
    <dgm:pt modelId="{89191FCD-28D1-4AEC-8B9A-35F1293EDA61}" type="pres">
      <dgm:prSet presAssocID="{C55760B4-FE42-4E1A-946E-F5CC85650EB5}" presName="background" presStyleLbl="node0" presStyleIdx="3" presStyleCnt="4"/>
      <dgm:spPr/>
    </dgm:pt>
    <dgm:pt modelId="{C04A1559-B1DF-4C2F-9033-B3E301EA6625}" type="pres">
      <dgm:prSet presAssocID="{C55760B4-FE42-4E1A-946E-F5CC85650EB5}" presName="text" presStyleLbl="fgAcc0" presStyleIdx="3" presStyleCnt="4">
        <dgm:presLayoutVars>
          <dgm:chPref val="3"/>
        </dgm:presLayoutVars>
      </dgm:prSet>
      <dgm:spPr/>
    </dgm:pt>
    <dgm:pt modelId="{02963400-CDCC-482F-8043-E68F9A0DF6C7}" type="pres">
      <dgm:prSet presAssocID="{C55760B4-FE42-4E1A-946E-F5CC85650EB5}" presName="hierChild2" presStyleCnt="0"/>
      <dgm:spPr/>
    </dgm:pt>
  </dgm:ptLst>
  <dgm:cxnLst>
    <dgm:cxn modelId="{8E2E8E02-2B05-4103-BD14-78472D32744C}" srcId="{10DF720D-1A1B-4265-8F32-8263B39314B8}" destId="{6D8BD6AE-F4F9-4DA3-A9FC-B9727F628063}" srcOrd="1" destOrd="0" parTransId="{546F4B9B-38FA-4755-8FA1-E18B8842109F}" sibTransId="{F701CB29-F38E-45A3-9B5D-5F3956703F68}"/>
    <dgm:cxn modelId="{ABC54405-7B53-4693-9C28-6FDB3845C5C1}" type="presOf" srcId="{10DF720D-1A1B-4265-8F32-8263B39314B8}" destId="{0B96917F-64D2-4B88-A986-C1D62D6D8DBF}" srcOrd="0" destOrd="0" presId="urn:microsoft.com/office/officeart/2005/8/layout/hierarchy1"/>
    <dgm:cxn modelId="{727CFF13-D9E7-47A4-BF3E-EA6A0414504B}" type="presOf" srcId="{75874315-F3BD-4F02-AF38-B9D1B848AA53}" destId="{B2AFA0E1-95F0-4FBE-8321-B344B5A8EAF5}" srcOrd="0" destOrd="0" presId="urn:microsoft.com/office/officeart/2005/8/layout/hierarchy1"/>
    <dgm:cxn modelId="{C95CB24B-AF37-4BDF-8CAA-D785B931E98A}" type="presOf" srcId="{849F89C8-F671-4180-8E07-B8C112CB474E}" destId="{5392B0F6-5B71-4C84-A047-EA029768C4F8}" srcOrd="0" destOrd="0" presId="urn:microsoft.com/office/officeart/2005/8/layout/hierarchy1"/>
    <dgm:cxn modelId="{5561D46E-FFAD-4D0B-83A5-3FD74990B86F}" srcId="{10DF720D-1A1B-4265-8F32-8263B39314B8}" destId="{C55760B4-FE42-4E1A-946E-F5CC85650EB5}" srcOrd="3" destOrd="0" parTransId="{65727EF5-272F-4874-95BC-E65AF782C4E9}" sibTransId="{5AE5D600-CF47-40AD-A2CC-3D50923EA77E}"/>
    <dgm:cxn modelId="{E0BB5B83-99E4-4F62-87C7-711DBD07672F}" srcId="{10DF720D-1A1B-4265-8F32-8263B39314B8}" destId="{75874315-F3BD-4F02-AF38-B9D1B848AA53}" srcOrd="2" destOrd="0" parTransId="{DC3E088D-DDE2-4EF5-889A-93DB029FEFAB}" sibTransId="{6128A94D-A8E6-48B5-B8C7-1932C0F43990}"/>
    <dgm:cxn modelId="{1EC619BD-4E31-4DCC-9DD2-98A609C56A11}" type="presOf" srcId="{6D8BD6AE-F4F9-4DA3-A9FC-B9727F628063}" destId="{788D1F46-8437-4A06-86E1-9D2FD6F0D7AF}" srcOrd="0" destOrd="0" presId="urn:microsoft.com/office/officeart/2005/8/layout/hierarchy1"/>
    <dgm:cxn modelId="{E28CAEE7-80E3-4C07-9418-6EC33A3E5AAD}" srcId="{10DF720D-1A1B-4265-8F32-8263B39314B8}" destId="{849F89C8-F671-4180-8E07-B8C112CB474E}" srcOrd="0" destOrd="0" parTransId="{3BE77379-4799-407E-B44E-E9F49EC0C0E9}" sibTransId="{7D9D0D01-2316-45EB-A03E-85D153BFD24B}"/>
    <dgm:cxn modelId="{753613F5-532E-4907-94EF-FA26E5C7B3D4}" type="presOf" srcId="{C55760B4-FE42-4E1A-946E-F5CC85650EB5}" destId="{C04A1559-B1DF-4C2F-9033-B3E301EA6625}" srcOrd="0" destOrd="0" presId="urn:microsoft.com/office/officeart/2005/8/layout/hierarchy1"/>
    <dgm:cxn modelId="{507251F0-62C5-4E91-B5BE-5AC32490E8F9}" type="presParOf" srcId="{0B96917F-64D2-4B88-A986-C1D62D6D8DBF}" destId="{4E27A00F-35EE-4E2C-BF79-E3832D80C033}" srcOrd="0" destOrd="0" presId="urn:microsoft.com/office/officeart/2005/8/layout/hierarchy1"/>
    <dgm:cxn modelId="{2789AD02-84A7-49C6-A97D-88F2629A6CB3}" type="presParOf" srcId="{4E27A00F-35EE-4E2C-BF79-E3832D80C033}" destId="{D5E1E07E-B3BE-4A75-AF96-06B5AEBCD813}" srcOrd="0" destOrd="0" presId="urn:microsoft.com/office/officeart/2005/8/layout/hierarchy1"/>
    <dgm:cxn modelId="{FBDB3A94-636F-4A3B-9BEC-4A3D73D9B23B}" type="presParOf" srcId="{D5E1E07E-B3BE-4A75-AF96-06B5AEBCD813}" destId="{2F0BDC1F-AEE9-4B64-8103-3A7D9F5191C3}" srcOrd="0" destOrd="0" presId="urn:microsoft.com/office/officeart/2005/8/layout/hierarchy1"/>
    <dgm:cxn modelId="{C19CCDD2-3C26-4BB5-AAB4-92A694BFAD66}" type="presParOf" srcId="{D5E1E07E-B3BE-4A75-AF96-06B5AEBCD813}" destId="{5392B0F6-5B71-4C84-A047-EA029768C4F8}" srcOrd="1" destOrd="0" presId="urn:microsoft.com/office/officeart/2005/8/layout/hierarchy1"/>
    <dgm:cxn modelId="{6D49CF14-64D2-4D4D-B9A0-2A49E99491D4}" type="presParOf" srcId="{4E27A00F-35EE-4E2C-BF79-E3832D80C033}" destId="{A44D5F5B-F05F-4B88-986D-0FCE02DC6AD9}" srcOrd="1" destOrd="0" presId="urn:microsoft.com/office/officeart/2005/8/layout/hierarchy1"/>
    <dgm:cxn modelId="{068D1F12-F9D8-4E15-AC45-66603BD783D6}" type="presParOf" srcId="{0B96917F-64D2-4B88-A986-C1D62D6D8DBF}" destId="{D6A270B2-A5EB-41AD-89BC-D01DB9F1D70F}" srcOrd="1" destOrd="0" presId="urn:microsoft.com/office/officeart/2005/8/layout/hierarchy1"/>
    <dgm:cxn modelId="{0A655C01-3CE8-4EA0-8299-3050A5126736}" type="presParOf" srcId="{D6A270B2-A5EB-41AD-89BC-D01DB9F1D70F}" destId="{56FA8BC0-EFCE-4020-87C4-46B24B6CC43F}" srcOrd="0" destOrd="0" presId="urn:microsoft.com/office/officeart/2005/8/layout/hierarchy1"/>
    <dgm:cxn modelId="{D30D7B77-DF5A-4087-95C6-8F0D203587AE}" type="presParOf" srcId="{56FA8BC0-EFCE-4020-87C4-46B24B6CC43F}" destId="{97D90678-2270-4382-9B34-81C0EAD7CE56}" srcOrd="0" destOrd="0" presId="urn:microsoft.com/office/officeart/2005/8/layout/hierarchy1"/>
    <dgm:cxn modelId="{41065020-2E1D-45B0-9D9D-0AA29B1B4A7B}" type="presParOf" srcId="{56FA8BC0-EFCE-4020-87C4-46B24B6CC43F}" destId="{788D1F46-8437-4A06-86E1-9D2FD6F0D7AF}" srcOrd="1" destOrd="0" presId="urn:microsoft.com/office/officeart/2005/8/layout/hierarchy1"/>
    <dgm:cxn modelId="{CE9919E8-C6C8-4C19-AB52-11FA9CF8DE6D}" type="presParOf" srcId="{D6A270B2-A5EB-41AD-89BC-D01DB9F1D70F}" destId="{A540B4AB-807E-4DF4-A0A3-6DDEC89EC03D}" srcOrd="1" destOrd="0" presId="urn:microsoft.com/office/officeart/2005/8/layout/hierarchy1"/>
    <dgm:cxn modelId="{671E6879-62D8-49AC-A723-6133C5454F4E}" type="presParOf" srcId="{0B96917F-64D2-4B88-A986-C1D62D6D8DBF}" destId="{75B65E7A-F158-403A-BCB5-D74CC3304DB2}" srcOrd="2" destOrd="0" presId="urn:microsoft.com/office/officeart/2005/8/layout/hierarchy1"/>
    <dgm:cxn modelId="{59FF1E2F-87BB-43AE-A93E-4C4A031E6759}" type="presParOf" srcId="{75B65E7A-F158-403A-BCB5-D74CC3304DB2}" destId="{1E7AA562-4D56-4D16-9D45-C8E9399D7E08}" srcOrd="0" destOrd="0" presId="urn:microsoft.com/office/officeart/2005/8/layout/hierarchy1"/>
    <dgm:cxn modelId="{85CAEBBD-1875-45D2-A588-E681C9303955}" type="presParOf" srcId="{1E7AA562-4D56-4D16-9D45-C8E9399D7E08}" destId="{4DB4853F-0E30-437C-8BE1-4CD8EF82C105}" srcOrd="0" destOrd="0" presId="urn:microsoft.com/office/officeart/2005/8/layout/hierarchy1"/>
    <dgm:cxn modelId="{C82AB611-0585-4666-AB35-BFE366AFF030}" type="presParOf" srcId="{1E7AA562-4D56-4D16-9D45-C8E9399D7E08}" destId="{B2AFA0E1-95F0-4FBE-8321-B344B5A8EAF5}" srcOrd="1" destOrd="0" presId="urn:microsoft.com/office/officeart/2005/8/layout/hierarchy1"/>
    <dgm:cxn modelId="{BE964CAA-04C6-4064-B376-16BB5CEB2A7E}" type="presParOf" srcId="{75B65E7A-F158-403A-BCB5-D74CC3304DB2}" destId="{10A1DCE3-9FB5-44D8-A3D9-14A6E122C836}" srcOrd="1" destOrd="0" presId="urn:microsoft.com/office/officeart/2005/8/layout/hierarchy1"/>
    <dgm:cxn modelId="{0F5F1A8F-43E5-4508-B17F-1FFEDF313EBF}" type="presParOf" srcId="{0B96917F-64D2-4B88-A986-C1D62D6D8DBF}" destId="{0CB655C9-206A-4E4E-B028-D8866834D056}" srcOrd="3" destOrd="0" presId="urn:microsoft.com/office/officeart/2005/8/layout/hierarchy1"/>
    <dgm:cxn modelId="{79862E5C-3A17-4131-B0FA-EB6C3A4A9998}" type="presParOf" srcId="{0CB655C9-206A-4E4E-B028-D8866834D056}" destId="{D6B29C31-822E-4BC1-B3FA-7E1AB9F11A3B}" srcOrd="0" destOrd="0" presId="urn:microsoft.com/office/officeart/2005/8/layout/hierarchy1"/>
    <dgm:cxn modelId="{40866BE9-A83C-4D22-96C7-117D576E1675}" type="presParOf" srcId="{D6B29C31-822E-4BC1-B3FA-7E1AB9F11A3B}" destId="{89191FCD-28D1-4AEC-8B9A-35F1293EDA61}" srcOrd="0" destOrd="0" presId="urn:microsoft.com/office/officeart/2005/8/layout/hierarchy1"/>
    <dgm:cxn modelId="{6D4522D3-F386-448F-8BED-B6CAD73FE751}" type="presParOf" srcId="{D6B29C31-822E-4BC1-B3FA-7E1AB9F11A3B}" destId="{C04A1559-B1DF-4C2F-9033-B3E301EA6625}" srcOrd="1" destOrd="0" presId="urn:microsoft.com/office/officeart/2005/8/layout/hierarchy1"/>
    <dgm:cxn modelId="{9AC167AA-7F51-41F8-A66B-6CC8ABAAAC96}" type="presParOf" srcId="{0CB655C9-206A-4E4E-B028-D8866834D056}" destId="{02963400-CDCC-482F-8043-E68F9A0DF6C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A54BF-A7E8-4B9C-B847-1DF57E911B19}">
      <dsp:nvSpPr>
        <dsp:cNvPr id="0" name=""/>
        <dsp:cNvSpPr/>
      </dsp:nvSpPr>
      <dsp:spPr>
        <a:xfrm>
          <a:off x="411752" y="1478"/>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AI in Recruitment </a:t>
          </a:r>
        </a:p>
      </dsp:txBody>
      <dsp:txXfrm>
        <a:off x="411752" y="1478"/>
        <a:ext cx="2045262" cy="1227157"/>
      </dsp:txXfrm>
    </dsp:sp>
    <dsp:sp modelId="{21181FFA-5936-48DA-917C-95FE11C4F5A8}">
      <dsp:nvSpPr>
        <dsp:cNvPr id="0" name=""/>
        <dsp:cNvSpPr/>
      </dsp:nvSpPr>
      <dsp:spPr>
        <a:xfrm>
          <a:off x="2661541" y="1478"/>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Resume Parsing </a:t>
          </a:r>
        </a:p>
      </dsp:txBody>
      <dsp:txXfrm>
        <a:off x="2661541" y="1478"/>
        <a:ext cx="2045262" cy="1227157"/>
      </dsp:txXfrm>
    </dsp:sp>
    <dsp:sp modelId="{5E13C7FE-916C-4786-AD4C-0A6E877D3334}">
      <dsp:nvSpPr>
        <dsp:cNvPr id="0" name=""/>
        <dsp:cNvSpPr/>
      </dsp:nvSpPr>
      <dsp:spPr>
        <a:xfrm>
          <a:off x="4911329" y="1478"/>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Attendance &amp; Leave </a:t>
          </a:r>
        </a:p>
      </dsp:txBody>
      <dsp:txXfrm>
        <a:off x="4911329" y="1478"/>
        <a:ext cx="2045262" cy="1227157"/>
      </dsp:txXfrm>
    </dsp:sp>
    <dsp:sp modelId="{7AAB0310-BFF0-4DC3-AC1A-AEFDC594A2B1}">
      <dsp:nvSpPr>
        <dsp:cNvPr id="0" name=""/>
        <dsp:cNvSpPr/>
      </dsp:nvSpPr>
      <dsp:spPr>
        <a:xfrm>
          <a:off x="7161117" y="1478"/>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Chatbots </a:t>
          </a:r>
        </a:p>
      </dsp:txBody>
      <dsp:txXfrm>
        <a:off x="7161117" y="1478"/>
        <a:ext cx="2045262" cy="1227157"/>
      </dsp:txXfrm>
    </dsp:sp>
    <dsp:sp modelId="{7BFE3FB9-876E-48B5-B1C2-F1195A279A53}">
      <dsp:nvSpPr>
        <dsp:cNvPr id="0" name=""/>
        <dsp:cNvSpPr/>
      </dsp:nvSpPr>
      <dsp:spPr>
        <a:xfrm>
          <a:off x="411752" y="1433162"/>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Performance Analytics </a:t>
          </a:r>
        </a:p>
      </dsp:txBody>
      <dsp:txXfrm>
        <a:off x="411752" y="1433162"/>
        <a:ext cx="2045262" cy="1227157"/>
      </dsp:txXfrm>
    </dsp:sp>
    <dsp:sp modelId="{4AF684B0-2998-458C-A914-4FC171D60BE0}">
      <dsp:nvSpPr>
        <dsp:cNvPr id="0" name=""/>
        <dsp:cNvSpPr/>
      </dsp:nvSpPr>
      <dsp:spPr>
        <a:xfrm>
          <a:off x="2661541" y="1433162"/>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Payroll Automation </a:t>
          </a:r>
        </a:p>
      </dsp:txBody>
      <dsp:txXfrm>
        <a:off x="2661541" y="1433162"/>
        <a:ext cx="2045262" cy="1227157"/>
      </dsp:txXfrm>
    </dsp:sp>
    <dsp:sp modelId="{0C071C4A-E046-4F9F-9506-C92233B1D97C}">
      <dsp:nvSpPr>
        <dsp:cNvPr id="0" name=""/>
        <dsp:cNvSpPr/>
      </dsp:nvSpPr>
      <dsp:spPr>
        <a:xfrm>
          <a:off x="4911329" y="1433162"/>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Employee Engagement </a:t>
          </a:r>
        </a:p>
      </dsp:txBody>
      <dsp:txXfrm>
        <a:off x="4911329" y="1433162"/>
        <a:ext cx="2045262" cy="1227157"/>
      </dsp:txXfrm>
    </dsp:sp>
    <dsp:sp modelId="{E245AB17-1325-447F-A7AF-5AC68F739290}">
      <dsp:nvSpPr>
        <dsp:cNvPr id="0" name=""/>
        <dsp:cNvSpPr/>
      </dsp:nvSpPr>
      <dsp:spPr>
        <a:xfrm>
          <a:off x="7161117" y="1433162"/>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AI Tools in HR </a:t>
          </a:r>
        </a:p>
      </dsp:txBody>
      <dsp:txXfrm>
        <a:off x="7161117" y="1433162"/>
        <a:ext cx="2045262" cy="1227157"/>
      </dsp:txXfrm>
    </dsp:sp>
    <dsp:sp modelId="{0C3B9DC7-78B8-499D-B150-AFFF1CF9C3E6}">
      <dsp:nvSpPr>
        <dsp:cNvPr id="0" name=""/>
        <dsp:cNvSpPr/>
      </dsp:nvSpPr>
      <dsp:spPr>
        <a:xfrm>
          <a:off x="3786435" y="2864845"/>
          <a:ext cx="2045262" cy="1227157"/>
        </a:xfrm>
        <a:prstGeom prst="rect">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Benefits &amp; Challenges </a:t>
          </a:r>
        </a:p>
      </dsp:txBody>
      <dsp:txXfrm>
        <a:off x="3786435" y="2864845"/>
        <a:ext cx="2045262" cy="1227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51A2D3-BBF9-48B2-A7B8-002EB23336DA}">
      <dsp:nvSpPr>
        <dsp:cNvPr id="0" name=""/>
        <dsp:cNvSpPr/>
      </dsp:nvSpPr>
      <dsp:spPr>
        <a:xfrm>
          <a:off x="1174" y="520807"/>
          <a:ext cx="4121050" cy="2616867"/>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52674D-4B08-4D5F-BC35-18FCA588534C}">
      <dsp:nvSpPr>
        <dsp:cNvPr id="0" name=""/>
        <dsp:cNvSpPr/>
      </dsp:nvSpPr>
      <dsp:spPr>
        <a:xfrm>
          <a:off x="459068" y="955807"/>
          <a:ext cx="4121050" cy="2616867"/>
        </a:xfrm>
        <a:prstGeom prst="roundRect">
          <a:avLst>
            <a:gd name="adj" fmla="val 10000"/>
          </a:avLst>
        </a:prstGeom>
        <a:solidFill>
          <a:schemeClr val="lt1">
            <a:alpha val="90000"/>
            <a:hueOff val="0"/>
            <a:satOff val="0"/>
            <a:lumOff val="0"/>
            <a:alphaOff val="0"/>
          </a:schemeClr>
        </a:solidFill>
        <a:ln w="19050"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b="0" kern="1200" dirty="0"/>
            <a:t>Hire Vue</a:t>
          </a:r>
          <a:r>
            <a:rPr lang="en-US" sz="3300" kern="1200" dirty="0"/>
            <a:t> </a:t>
          </a:r>
        </a:p>
      </dsp:txBody>
      <dsp:txXfrm>
        <a:off x="535713" y="1032452"/>
        <a:ext cx="3967760" cy="2463577"/>
      </dsp:txXfrm>
    </dsp:sp>
    <dsp:sp modelId="{80E721F8-E775-4D1E-9F50-5797B4E7DBB7}">
      <dsp:nvSpPr>
        <dsp:cNvPr id="0" name=""/>
        <dsp:cNvSpPr/>
      </dsp:nvSpPr>
      <dsp:spPr>
        <a:xfrm>
          <a:off x="5038013" y="520807"/>
          <a:ext cx="4121050" cy="2616867"/>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5B80FA-5C3D-480F-8C8E-253E1EB1A3AD}">
      <dsp:nvSpPr>
        <dsp:cNvPr id="0" name=""/>
        <dsp:cNvSpPr/>
      </dsp:nvSpPr>
      <dsp:spPr>
        <a:xfrm>
          <a:off x="5495908" y="955807"/>
          <a:ext cx="4121050" cy="2616867"/>
        </a:xfrm>
        <a:prstGeom prst="roundRect">
          <a:avLst>
            <a:gd name="adj" fmla="val 10000"/>
          </a:avLst>
        </a:prstGeom>
        <a:solidFill>
          <a:schemeClr val="lt1">
            <a:alpha val="90000"/>
            <a:hueOff val="0"/>
            <a:satOff val="0"/>
            <a:lumOff val="0"/>
            <a:alphaOff val="0"/>
          </a:schemeClr>
        </a:solidFill>
        <a:ln w="19050"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ML models classify candidates based on skills, experience, keywords</a:t>
          </a:r>
        </a:p>
      </dsp:txBody>
      <dsp:txXfrm>
        <a:off x="5572553" y="1032452"/>
        <a:ext cx="3967760" cy="2463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BDC1F-AEE9-4B64-8103-3A7D9F5191C3}">
      <dsp:nvSpPr>
        <dsp:cNvPr id="0" name=""/>
        <dsp:cNvSpPr/>
      </dsp:nvSpPr>
      <dsp:spPr>
        <a:xfrm>
          <a:off x="2518" y="1274894"/>
          <a:ext cx="1798173" cy="114184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92B0F6-5B71-4C84-A047-EA029768C4F8}">
      <dsp:nvSpPr>
        <dsp:cNvPr id="0" name=""/>
        <dsp:cNvSpPr/>
      </dsp:nvSpPr>
      <dsp:spPr>
        <a:xfrm>
          <a:off x="202315" y="1464701"/>
          <a:ext cx="1798173" cy="114184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Bais in AI Model</a:t>
          </a:r>
        </a:p>
      </dsp:txBody>
      <dsp:txXfrm>
        <a:off x="235758" y="1498144"/>
        <a:ext cx="1731287" cy="1074954"/>
      </dsp:txXfrm>
    </dsp:sp>
    <dsp:sp modelId="{97D90678-2270-4382-9B34-81C0EAD7CE56}">
      <dsp:nvSpPr>
        <dsp:cNvPr id="0" name=""/>
        <dsp:cNvSpPr/>
      </dsp:nvSpPr>
      <dsp:spPr>
        <a:xfrm>
          <a:off x="2200286" y="1274894"/>
          <a:ext cx="1798173" cy="114184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8D1F46-8437-4A06-86E1-9D2FD6F0D7AF}">
      <dsp:nvSpPr>
        <dsp:cNvPr id="0" name=""/>
        <dsp:cNvSpPr/>
      </dsp:nvSpPr>
      <dsp:spPr>
        <a:xfrm>
          <a:off x="2400083" y="1464701"/>
          <a:ext cx="1798173" cy="114184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Data Privacy Issues</a:t>
          </a:r>
        </a:p>
      </dsp:txBody>
      <dsp:txXfrm>
        <a:off x="2433526" y="1498144"/>
        <a:ext cx="1731287" cy="1074954"/>
      </dsp:txXfrm>
    </dsp:sp>
    <dsp:sp modelId="{4DB4853F-0E30-437C-8BE1-4CD8EF82C105}">
      <dsp:nvSpPr>
        <dsp:cNvPr id="0" name=""/>
        <dsp:cNvSpPr/>
      </dsp:nvSpPr>
      <dsp:spPr>
        <a:xfrm>
          <a:off x="4398054" y="1274894"/>
          <a:ext cx="1798173" cy="114184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AFA0E1-95F0-4FBE-8321-B344B5A8EAF5}">
      <dsp:nvSpPr>
        <dsp:cNvPr id="0" name=""/>
        <dsp:cNvSpPr/>
      </dsp:nvSpPr>
      <dsp:spPr>
        <a:xfrm>
          <a:off x="4597851" y="1464701"/>
          <a:ext cx="1798173" cy="114184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High implementation cost</a:t>
          </a:r>
        </a:p>
      </dsp:txBody>
      <dsp:txXfrm>
        <a:off x="4631294" y="1498144"/>
        <a:ext cx="1731287" cy="1074954"/>
      </dsp:txXfrm>
    </dsp:sp>
    <dsp:sp modelId="{89191FCD-28D1-4AEC-8B9A-35F1293EDA61}">
      <dsp:nvSpPr>
        <dsp:cNvPr id="0" name=""/>
        <dsp:cNvSpPr/>
      </dsp:nvSpPr>
      <dsp:spPr>
        <a:xfrm>
          <a:off x="6595822" y="1274894"/>
          <a:ext cx="1798173" cy="114184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4A1559-B1DF-4C2F-9033-B3E301EA6625}">
      <dsp:nvSpPr>
        <dsp:cNvPr id="0" name=""/>
        <dsp:cNvSpPr/>
      </dsp:nvSpPr>
      <dsp:spPr>
        <a:xfrm>
          <a:off x="6795619" y="1464701"/>
          <a:ext cx="1798173" cy="1141840"/>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Lack of Human touch</a:t>
          </a:r>
        </a:p>
      </dsp:txBody>
      <dsp:txXfrm>
        <a:off x="6829062" y="1498144"/>
        <a:ext cx="1731287" cy="107495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672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1244338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8775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867928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38908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4480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5724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27696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0419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2138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339425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681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296811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9744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3621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8648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5/11/2026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539763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FCA60-1FB6-60F0-3D57-57E8DF008C8B}"/>
              </a:ext>
            </a:extLst>
          </p:cNvPr>
          <p:cNvSpPr>
            <a:spLocks noGrp="1"/>
          </p:cNvSpPr>
          <p:nvPr>
            <p:ph type="ctrTitle"/>
          </p:nvPr>
        </p:nvSpPr>
        <p:spPr>
          <a:xfrm>
            <a:off x="829734" y="854529"/>
            <a:ext cx="5799665" cy="5148943"/>
          </a:xfrm>
        </p:spPr>
        <p:txBody>
          <a:bodyPr anchor="ctr">
            <a:normAutofit/>
          </a:bodyPr>
          <a:lstStyle/>
          <a:p>
            <a:r>
              <a:rPr lang="en-US" sz="6000" dirty="0"/>
              <a:t>HRM Process With AI</a:t>
            </a:r>
            <a:endParaRPr lang="en-IN" sz="6000" dirty="0"/>
          </a:p>
        </p:txBody>
      </p:sp>
      <p:sp>
        <p:nvSpPr>
          <p:cNvPr id="3" name="Subtitle 2">
            <a:extLst>
              <a:ext uri="{FF2B5EF4-FFF2-40B4-BE49-F238E27FC236}">
                <a16:creationId xmlns:a16="http://schemas.microsoft.com/office/drawing/2014/main" id="{17C961E4-3D40-B135-0038-4DF149C8ADF1}"/>
              </a:ext>
            </a:extLst>
          </p:cNvPr>
          <p:cNvSpPr>
            <a:spLocks noGrp="1"/>
          </p:cNvSpPr>
          <p:nvPr>
            <p:ph type="subTitle" idx="1"/>
          </p:nvPr>
        </p:nvSpPr>
        <p:spPr>
          <a:xfrm>
            <a:off x="7534654" y="1892300"/>
            <a:ext cx="3425445" cy="3073400"/>
          </a:xfrm>
        </p:spPr>
        <p:txBody>
          <a:bodyPr anchor="ctr">
            <a:normAutofit/>
          </a:bodyPr>
          <a:lstStyle/>
          <a:p>
            <a:pPr algn="l"/>
            <a:endParaRPr lang="en-IN" sz="2000" dirty="0">
              <a:solidFill>
                <a:srgbClr val="FFFFFF"/>
              </a:solidFill>
            </a:endParaRPr>
          </a:p>
        </p:txBody>
      </p:sp>
    </p:spTree>
    <p:extLst>
      <p:ext uri="{BB962C8B-B14F-4D97-AF65-F5344CB8AC3E}">
        <p14:creationId xmlns:p14="http://schemas.microsoft.com/office/powerpoint/2010/main" val="187327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C2DD-E1FF-448A-638E-8B3A4AA06ED3}"/>
              </a:ext>
            </a:extLst>
          </p:cNvPr>
          <p:cNvSpPr>
            <a:spLocks noGrp="1"/>
          </p:cNvSpPr>
          <p:nvPr>
            <p:ph type="title"/>
          </p:nvPr>
        </p:nvSpPr>
        <p:spPr>
          <a:xfrm>
            <a:off x="1286933" y="609600"/>
            <a:ext cx="10197494" cy="1099457"/>
          </a:xfrm>
        </p:spPr>
        <p:txBody>
          <a:bodyPr>
            <a:normAutofit/>
          </a:bodyPr>
          <a:lstStyle/>
          <a:p>
            <a:r>
              <a:rPr lang="en-US" dirty="0"/>
              <a:t>There are 9 section in this HRM process with AI</a:t>
            </a:r>
            <a:endParaRPr lang="en-IN" dirty="0"/>
          </a:p>
        </p:txBody>
      </p:sp>
      <p:graphicFrame>
        <p:nvGraphicFramePr>
          <p:cNvPr id="5" name="Content Placeholder 2">
            <a:extLst>
              <a:ext uri="{FF2B5EF4-FFF2-40B4-BE49-F238E27FC236}">
                <a16:creationId xmlns:a16="http://schemas.microsoft.com/office/drawing/2014/main" id="{123AE0A1-3315-7E24-17B3-8176259F977B}"/>
              </a:ext>
            </a:extLst>
          </p:cNvPr>
          <p:cNvGraphicFramePr>
            <a:graphicFrameLocks noGrp="1"/>
          </p:cNvGraphicFramePr>
          <p:nvPr>
            <p:ph idx="1"/>
            <p:extLst>
              <p:ext uri="{D42A27DB-BD31-4B8C-83A1-F6EECF244321}">
                <p14:modId xmlns:p14="http://schemas.microsoft.com/office/powerpoint/2010/main" val="3658808524"/>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5209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B438-5B11-D08E-0AAB-855A21351A7C}"/>
              </a:ext>
            </a:extLst>
          </p:cNvPr>
          <p:cNvSpPr>
            <a:spLocks noGrp="1"/>
          </p:cNvSpPr>
          <p:nvPr>
            <p:ph type="title"/>
          </p:nvPr>
        </p:nvSpPr>
        <p:spPr>
          <a:xfrm>
            <a:off x="5536734" y="609600"/>
            <a:ext cx="3737268" cy="1320800"/>
          </a:xfrm>
        </p:spPr>
        <p:txBody>
          <a:bodyPr>
            <a:normAutofit/>
          </a:bodyPr>
          <a:lstStyle/>
          <a:p>
            <a:pPr>
              <a:lnSpc>
                <a:spcPct val="90000"/>
              </a:lnSpc>
            </a:pPr>
            <a:r>
              <a:rPr lang="en-IN" sz="2800" dirty="0"/>
              <a:t>01. AI-based Recruitment &amp; Screening</a:t>
            </a:r>
          </a:p>
        </p:txBody>
      </p:sp>
      <p:sp>
        <p:nvSpPr>
          <p:cNvPr id="3" name="Content Placeholder 2">
            <a:extLst>
              <a:ext uri="{FF2B5EF4-FFF2-40B4-BE49-F238E27FC236}">
                <a16:creationId xmlns:a16="http://schemas.microsoft.com/office/drawing/2014/main" id="{2C3D69CC-3E83-80DD-CD94-E8A764B9C34F}"/>
              </a:ext>
            </a:extLst>
          </p:cNvPr>
          <p:cNvSpPr>
            <a:spLocks noGrp="1"/>
          </p:cNvSpPr>
          <p:nvPr>
            <p:ph idx="1"/>
          </p:nvPr>
        </p:nvSpPr>
        <p:spPr>
          <a:xfrm>
            <a:off x="5209563" y="2160589"/>
            <a:ext cx="4064439" cy="3880773"/>
          </a:xfrm>
        </p:spPr>
        <p:txBody>
          <a:bodyPr>
            <a:normAutofit/>
          </a:bodyPr>
          <a:lstStyle/>
          <a:p>
            <a:r>
              <a:rPr lang="en-US"/>
              <a:t>AI scans resumes automatically </a:t>
            </a:r>
          </a:p>
          <a:p>
            <a:r>
              <a:rPr lang="en-US"/>
              <a:t>Matches skills with job description </a:t>
            </a:r>
          </a:p>
          <a:p>
            <a:r>
              <a:rPr lang="en-US"/>
              <a:t>Ranks candidates </a:t>
            </a:r>
          </a:p>
          <a:p>
            <a:pPr marL="0" indent="0">
              <a:buNone/>
            </a:pPr>
            <a:r>
              <a:rPr lang="en-US"/>
              <a:t>Example:</a:t>
            </a:r>
          </a:p>
          <a:p>
            <a:r>
              <a:rPr lang="en-US"/>
              <a:t>Companies use AI to filter </a:t>
            </a:r>
            <a:r>
              <a:rPr lang="en-US" b="1"/>
              <a:t>1000 resumes → top 50 candidates</a:t>
            </a:r>
            <a:endParaRPr lang="en-US"/>
          </a:p>
          <a:p>
            <a:endParaRPr lang="en-IN"/>
          </a:p>
        </p:txBody>
      </p:sp>
      <p:pic>
        <p:nvPicPr>
          <p:cNvPr id="20" name="Picture 19">
            <a:extLst>
              <a:ext uri="{FF2B5EF4-FFF2-40B4-BE49-F238E27FC236}">
                <a16:creationId xmlns:a16="http://schemas.microsoft.com/office/drawing/2014/main" id="{ABA46ADB-69F0-9CD7-1720-445E2042EEFA}"/>
              </a:ext>
            </a:extLst>
          </p:cNvPr>
          <p:cNvPicPr>
            <a:picLocks noChangeAspect="1"/>
          </p:cNvPicPr>
          <p:nvPr/>
        </p:nvPicPr>
        <p:blipFill>
          <a:blip r:embed="rId2"/>
          <a:srcRect l="16896" r="38854"/>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170126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FD74E-2336-FA47-EA42-E7AE3390C885}"/>
              </a:ext>
            </a:extLst>
          </p:cNvPr>
          <p:cNvSpPr>
            <a:spLocks noGrp="1"/>
          </p:cNvSpPr>
          <p:nvPr>
            <p:ph type="title"/>
          </p:nvPr>
        </p:nvSpPr>
        <p:spPr>
          <a:xfrm>
            <a:off x="1286933" y="609600"/>
            <a:ext cx="10197494" cy="1099457"/>
          </a:xfrm>
        </p:spPr>
        <p:txBody>
          <a:bodyPr>
            <a:normAutofit/>
          </a:bodyPr>
          <a:lstStyle/>
          <a:p>
            <a:r>
              <a:rPr lang="en-US" dirty="0"/>
              <a:t>Tools used in AI based Screening</a:t>
            </a:r>
            <a:endParaRPr lang="en-IN" dirty="0"/>
          </a:p>
        </p:txBody>
      </p:sp>
      <p:graphicFrame>
        <p:nvGraphicFramePr>
          <p:cNvPr id="6" name="Content Placeholder 2">
            <a:extLst>
              <a:ext uri="{FF2B5EF4-FFF2-40B4-BE49-F238E27FC236}">
                <a16:creationId xmlns:a16="http://schemas.microsoft.com/office/drawing/2014/main" id="{FF2F8853-F616-F789-1584-932032531F34}"/>
              </a:ext>
            </a:extLst>
          </p:cNvPr>
          <p:cNvGraphicFramePr>
            <a:graphicFrameLocks noGrp="1"/>
          </p:cNvGraphicFramePr>
          <p:nvPr>
            <p:ph idx="1"/>
            <p:extLst>
              <p:ext uri="{D42A27DB-BD31-4B8C-83A1-F6EECF244321}">
                <p14:modId xmlns:p14="http://schemas.microsoft.com/office/powerpoint/2010/main" val="1207775784"/>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5619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66466-BAA7-E700-CEDF-B8A5BD3B0275}"/>
              </a:ext>
            </a:extLst>
          </p:cNvPr>
          <p:cNvSpPr>
            <a:spLocks noGrp="1"/>
          </p:cNvSpPr>
          <p:nvPr>
            <p:ph type="title"/>
          </p:nvPr>
        </p:nvSpPr>
        <p:spPr>
          <a:xfrm>
            <a:off x="643467" y="816638"/>
            <a:ext cx="3367359" cy="5224724"/>
          </a:xfrm>
        </p:spPr>
        <p:txBody>
          <a:bodyPr anchor="ctr">
            <a:normAutofit/>
          </a:bodyPr>
          <a:lstStyle/>
          <a:p>
            <a:r>
              <a:rPr lang="en-US"/>
              <a:t>HireVue</a:t>
            </a:r>
            <a:endParaRPr lang="en-IN"/>
          </a:p>
        </p:txBody>
      </p:sp>
      <p:sp>
        <p:nvSpPr>
          <p:cNvPr id="3" name="Content Placeholder 2">
            <a:extLst>
              <a:ext uri="{FF2B5EF4-FFF2-40B4-BE49-F238E27FC236}">
                <a16:creationId xmlns:a16="http://schemas.microsoft.com/office/drawing/2014/main" id="{AE384B96-C19F-93C3-D390-FE724542EA61}"/>
              </a:ext>
            </a:extLst>
          </p:cNvPr>
          <p:cNvSpPr>
            <a:spLocks noGrp="1"/>
          </p:cNvSpPr>
          <p:nvPr>
            <p:ph idx="1"/>
          </p:nvPr>
        </p:nvSpPr>
        <p:spPr>
          <a:xfrm>
            <a:off x="4654295" y="816638"/>
            <a:ext cx="4619706" cy="5224724"/>
          </a:xfrm>
        </p:spPr>
        <p:txBody>
          <a:bodyPr anchor="ctr">
            <a:normAutofit/>
          </a:bodyPr>
          <a:lstStyle/>
          <a:p>
            <a:r>
              <a:rPr lang="en-US" dirty="0"/>
              <a:t>Hire Vue is an AI-powered video interviewing and candidate assessment platform.</a:t>
            </a:r>
          </a:p>
          <a:p>
            <a:r>
              <a:rPr lang="en-US" dirty="0"/>
              <a:t>Candidate records answers via video</a:t>
            </a:r>
          </a:p>
          <a:p>
            <a:r>
              <a:rPr lang="en-IN" dirty="0"/>
              <a:t>AI </a:t>
            </a:r>
            <a:r>
              <a:rPr lang="en-IN" dirty="0" err="1"/>
              <a:t>analyzes</a:t>
            </a:r>
            <a:r>
              <a:rPr lang="en-IN" dirty="0"/>
              <a:t>:</a:t>
            </a:r>
          </a:p>
          <a:p>
            <a:pPr lvl="1">
              <a:buFont typeface="Wingdings" panose="05000000000000000000" pitchFamily="2" charset="2"/>
              <a:buChar char="q"/>
            </a:pPr>
            <a:r>
              <a:rPr lang="en-IN" dirty="0"/>
              <a:t>Speech(</a:t>
            </a:r>
            <a:r>
              <a:rPr lang="en-IN" dirty="0" err="1"/>
              <a:t>tone,clarity</a:t>
            </a:r>
            <a:r>
              <a:rPr lang="en-IN" dirty="0"/>
              <a:t>)</a:t>
            </a:r>
          </a:p>
          <a:p>
            <a:pPr lvl="1">
              <a:buFont typeface="Wingdings" panose="05000000000000000000" pitchFamily="2" charset="2"/>
              <a:buChar char="q"/>
            </a:pPr>
            <a:r>
              <a:rPr lang="en-IN" dirty="0"/>
              <a:t>Language (communication)</a:t>
            </a:r>
          </a:p>
          <a:p>
            <a:pPr lvl="1">
              <a:buFont typeface="Wingdings" panose="05000000000000000000" pitchFamily="2" charset="2"/>
              <a:buChar char="q"/>
            </a:pPr>
            <a:r>
              <a:rPr lang="en-IN" dirty="0" err="1"/>
              <a:t>Genrate</a:t>
            </a:r>
            <a:r>
              <a:rPr lang="en-IN" dirty="0"/>
              <a:t> Candidate Score</a:t>
            </a:r>
          </a:p>
          <a:p>
            <a:endParaRPr lang="en-IN" dirty="0"/>
          </a:p>
          <a:p>
            <a:pPr marL="0" indent="0">
              <a:buNone/>
            </a:pPr>
            <a:endParaRPr lang="en-IN" dirty="0"/>
          </a:p>
        </p:txBody>
      </p:sp>
    </p:spTree>
    <p:extLst>
      <p:ext uri="{BB962C8B-B14F-4D97-AF65-F5344CB8AC3E}">
        <p14:creationId xmlns:p14="http://schemas.microsoft.com/office/powerpoint/2010/main" val="2122642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7802F-C3E3-3986-3F28-73A034CAF75D}"/>
              </a:ext>
            </a:extLst>
          </p:cNvPr>
          <p:cNvSpPr>
            <a:spLocks noGrp="1"/>
          </p:cNvSpPr>
          <p:nvPr>
            <p:ph type="title"/>
          </p:nvPr>
        </p:nvSpPr>
        <p:spPr>
          <a:xfrm>
            <a:off x="643467" y="816638"/>
            <a:ext cx="3367359" cy="5224724"/>
          </a:xfrm>
        </p:spPr>
        <p:txBody>
          <a:bodyPr anchor="ctr">
            <a:normAutofit/>
          </a:bodyPr>
          <a:lstStyle/>
          <a:p>
            <a:r>
              <a:rPr lang="en-IN" dirty="0"/>
              <a:t>02. Resume Parsing &amp; Shortlisting</a:t>
            </a:r>
          </a:p>
        </p:txBody>
      </p:sp>
      <p:sp>
        <p:nvSpPr>
          <p:cNvPr id="3" name="Content Placeholder 2">
            <a:extLst>
              <a:ext uri="{FF2B5EF4-FFF2-40B4-BE49-F238E27FC236}">
                <a16:creationId xmlns:a16="http://schemas.microsoft.com/office/drawing/2014/main" id="{EEA2246D-BEB1-0572-73E6-B07A00DEE914}"/>
              </a:ext>
            </a:extLst>
          </p:cNvPr>
          <p:cNvSpPr>
            <a:spLocks noGrp="1"/>
          </p:cNvSpPr>
          <p:nvPr>
            <p:ph idx="1"/>
          </p:nvPr>
        </p:nvSpPr>
        <p:spPr>
          <a:xfrm>
            <a:off x="4654295" y="816638"/>
            <a:ext cx="4619706" cy="5224724"/>
          </a:xfrm>
        </p:spPr>
        <p:txBody>
          <a:bodyPr anchor="ctr">
            <a:normAutofit/>
          </a:bodyPr>
          <a:lstStyle/>
          <a:p>
            <a:r>
              <a:rPr lang="en-IN" dirty="0"/>
              <a:t>AI extracts: </a:t>
            </a:r>
          </a:p>
          <a:p>
            <a:pPr lvl="1"/>
            <a:r>
              <a:rPr lang="en-IN" dirty="0"/>
              <a:t>Name </a:t>
            </a:r>
          </a:p>
          <a:p>
            <a:pPr lvl="1"/>
            <a:r>
              <a:rPr lang="en-IN" dirty="0"/>
              <a:t>Skills </a:t>
            </a:r>
          </a:p>
          <a:p>
            <a:pPr lvl="1"/>
            <a:r>
              <a:rPr lang="en-IN" dirty="0"/>
              <a:t>Experience </a:t>
            </a:r>
          </a:p>
          <a:p>
            <a:r>
              <a:rPr lang="en-IN" dirty="0"/>
              <a:t>Converts resume → structured data</a:t>
            </a:r>
          </a:p>
          <a:p>
            <a:r>
              <a:rPr lang="en-IN" dirty="0"/>
              <a:t>Tech:</a:t>
            </a:r>
          </a:p>
          <a:p>
            <a:pPr lvl="1">
              <a:buFont typeface="Wingdings" panose="05000000000000000000" pitchFamily="2" charset="2"/>
              <a:buChar char="q"/>
            </a:pPr>
            <a:r>
              <a:rPr lang="en-IN" dirty="0"/>
              <a:t>NLP (Natural Language Processing) </a:t>
            </a:r>
          </a:p>
          <a:p>
            <a:pPr marL="0" indent="0">
              <a:buNone/>
            </a:pPr>
            <a:r>
              <a:rPr lang="en-IN" dirty="0"/>
              <a:t>Tools:</a:t>
            </a:r>
          </a:p>
          <a:p>
            <a:pPr lvl="1">
              <a:buFont typeface="Wingdings" panose="05000000000000000000" pitchFamily="2" charset="2"/>
              <a:buChar char="q"/>
            </a:pPr>
            <a:r>
              <a:rPr lang="en-IN" dirty="0"/>
              <a:t>R Chilli </a:t>
            </a:r>
          </a:p>
          <a:p>
            <a:pPr lvl="1">
              <a:buFont typeface="Wingdings" panose="05000000000000000000" pitchFamily="2" charset="2"/>
              <a:buChar char="q"/>
            </a:pPr>
            <a:r>
              <a:rPr lang="en-IN" dirty="0"/>
              <a:t>Hire Ability</a:t>
            </a:r>
          </a:p>
          <a:p>
            <a:endParaRPr lang="en-IN" dirty="0"/>
          </a:p>
        </p:txBody>
      </p:sp>
    </p:spTree>
    <p:extLst>
      <p:ext uri="{BB962C8B-B14F-4D97-AF65-F5344CB8AC3E}">
        <p14:creationId xmlns:p14="http://schemas.microsoft.com/office/powerpoint/2010/main" val="239297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D454B-C81A-2FAA-A930-FE180EB75382}"/>
              </a:ext>
            </a:extLst>
          </p:cNvPr>
          <p:cNvSpPr>
            <a:spLocks noGrp="1"/>
          </p:cNvSpPr>
          <p:nvPr>
            <p:ph type="title"/>
          </p:nvPr>
        </p:nvSpPr>
        <p:spPr/>
        <p:txBody>
          <a:bodyPr/>
          <a:lstStyle/>
          <a:p>
            <a:r>
              <a:rPr lang="en-IN" dirty="0"/>
              <a:t>What is </a:t>
            </a:r>
            <a:r>
              <a:rPr lang="en-IN" dirty="0" err="1"/>
              <a:t>RChilli</a:t>
            </a:r>
            <a:r>
              <a:rPr lang="en-IN" dirty="0"/>
              <a:t>?</a:t>
            </a:r>
          </a:p>
        </p:txBody>
      </p:sp>
      <p:sp>
        <p:nvSpPr>
          <p:cNvPr id="3" name="Content Placeholder 2">
            <a:extLst>
              <a:ext uri="{FF2B5EF4-FFF2-40B4-BE49-F238E27FC236}">
                <a16:creationId xmlns:a16="http://schemas.microsoft.com/office/drawing/2014/main" id="{AD478B58-A642-F0C7-046E-08DE3C778476}"/>
              </a:ext>
            </a:extLst>
          </p:cNvPr>
          <p:cNvSpPr>
            <a:spLocks noGrp="1"/>
          </p:cNvSpPr>
          <p:nvPr>
            <p:ph idx="1"/>
          </p:nvPr>
        </p:nvSpPr>
        <p:spPr/>
        <p:txBody>
          <a:bodyPr/>
          <a:lstStyle/>
          <a:p>
            <a:r>
              <a:rPr lang="en-US" dirty="0" err="1"/>
              <a:t>RChilli</a:t>
            </a:r>
            <a:r>
              <a:rPr lang="en-US" dirty="0"/>
              <a:t> is an AI-powered platform that helps companies extract and organize data from resumes (CVs) into a structured format.</a:t>
            </a:r>
            <a:endParaRPr lang="en-IN" dirty="0"/>
          </a:p>
        </p:txBody>
      </p:sp>
    </p:spTree>
    <p:extLst>
      <p:ext uri="{BB962C8B-B14F-4D97-AF65-F5344CB8AC3E}">
        <p14:creationId xmlns:p14="http://schemas.microsoft.com/office/powerpoint/2010/main" val="2829489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5F5D-05E8-5075-A445-8D20122D5CA9}"/>
              </a:ext>
            </a:extLst>
          </p:cNvPr>
          <p:cNvSpPr>
            <a:spLocks noGrp="1"/>
          </p:cNvSpPr>
          <p:nvPr>
            <p:ph type="title"/>
          </p:nvPr>
        </p:nvSpPr>
        <p:spPr/>
        <p:txBody>
          <a:bodyPr/>
          <a:lstStyle/>
          <a:p>
            <a:r>
              <a:rPr lang="en-IN" dirty="0"/>
              <a:t>Why is it needed?</a:t>
            </a:r>
          </a:p>
        </p:txBody>
      </p:sp>
      <p:sp>
        <p:nvSpPr>
          <p:cNvPr id="3" name="Content Placeholder 2">
            <a:extLst>
              <a:ext uri="{FF2B5EF4-FFF2-40B4-BE49-F238E27FC236}">
                <a16:creationId xmlns:a16="http://schemas.microsoft.com/office/drawing/2014/main" id="{8AB1BF9C-5DC0-6E64-6CFE-A84C16FC266C}"/>
              </a:ext>
            </a:extLst>
          </p:cNvPr>
          <p:cNvSpPr>
            <a:spLocks noGrp="1"/>
          </p:cNvSpPr>
          <p:nvPr>
            <p:ph idx="1"/>
          </p:nvPr>
        </p:nvSpPr>
        <p:spPr/>
        <p:txBody>
          <a:bodyPr/>
          <a:lstStyle/>
          <a:p>
            <a:r>
              <a:rPr lang="en-US" dirty="0"/>
              <a:t>Resumes come in different formats (PDF, Word, etc.), and:</a:t>
            </a:r>
          </a:p>
          <a:p>
            <a:r>
              <a:rPr lang="en-US" dirty="0"/>
              <a:t>HR cannot manually read thousands of resumes </a:t>
            </a:r>
          </a:p>
          <a:p>
            <a:r>
              <a:rPr lang="en-US" dirty="0"/>
              <a:t>Data is unstructured (different layouts, styles) </a:t>
            </a:r>
          </a:p>
          <a:p>
            <a:pPr marL="0" indent="0">
              <a:buNone/>
            </a:pPr>
            <a:r>
              <a:rPr lang="en-US" dirty="0" err="1"/>
              <a:t>RChilli</a:t>
            </a:r>
            <a:r>
              <a:rPr lang="en-US" dirty="0"/>
              <a:t> solves this by automatically extracting:</a:t>
            </a:r>
          </a:p>
          <a:p>
            <a:pPr lvl="1">
              <a:buFont typeface="Wingdings" panose="05000000000000000000" pitchFamily="2" charset="2"/>
              <a:buChar char="q"/>
            </a:pPr>
            <a:r>
              <a:rPr lang="en-US" dirty="0"/>
              <a:t>Name </a:t>
            </a:r>
          </a:p>
          <a:p>
            <a:pPr lvl="1">
              <a:buFont typeface="Wingdings" panose="05000000000000000000" pitchFamily="2" charset="2"/>
              <a:buChar char="q"/>
            </a:pPr>
            <a:r>
              <a:rPr lang="en-US" dirty="0"/>
              <a:t>Skills </a:t>
            </a:r>
          </a:p>
          <a:p>
            <a:pPr lvl="1">
              <a:buFont typeface="Wingdings" panose="05000000000000000000" pitchFamily="2" charset="2"/>
              <a:buChar char="q"/>
            </a:pPr>
            <a:r>
              <a:rPr lang="en-US" dirty="0"/>
              <a:t>Experience </a:t>
            </a:r>
          </a:p>
          <a:p>
            <a:pPr lvl="1">
              <a:buFont typeface="Wingdings" panose="05000000000000000000" pitchFamily="2" charset="2"/>
              <a:buChar char="q"/>
            </a:pPr>
            <a:r>
              <a:rPr lang="en-US" dirty="0"/>
              <a:t>Education </a:t>
            </a:r>
          </a:p>
          <a:p>
            <a:pPr lvl="1">
              <a:buFont typeface="Wingdings" panose="05000000000000000000" pitchFamily="2" charset="2"/>
              <a:buChar char="q"/>
            </a:pPr>
            <a:r>
              <a:rPr lang="en-US" dirty="0"/>
              <a:t>Contact details </a:t>
            </a:r>
          </a:p>
          <a:p>
            <a:endParaRPr lang="en-IN" dirty="0"/>
          </a:p>
        </p:txBody>
      </p:sp>
    </p:spTree>
    <p:extLst>
      <p:ext uri="{BB962C8B-B14F-4D97-AF65-F5344CB8AC3E}">
        <p14:creationId xmlns:p14="http://schemas.microsoft.com/office/powerpoint/2010/main" val="3336671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9D709-92EE-406C-86F0-6F2EF421D372}"/>
              </a:ext>
            </a:extLst>
          </p:cNvPr>
          <p:cNvSpPr>
            <a:spLocks noGrp="1"/>
          </p:cNvSpPr>
          <p:nvPr>
            <p:ph type="title"/>
          </p:nvPr>
        </p:nvSpPr>
        <p:spPr/>
        <p:txBody>
          <a:bodyPr/>
          <a:lstStyle/>
          <a:p>
            <a:r>
              <a:rPr lang="en-IN" dirty="0"/>
              <a:t>Key Features</a:t>
            </a:r>
          </a:p>
        </p:txBody>
      </p:sp>
      <p:sp>
        <p:nvSpPr>
          <p:cNvPr id="3" name="Content Placeholder 2">
            <a:extLst>
              <a:ext uri="{FF2B5EF4-FFF2-40B4-BE49-F238E27FC236}">
                <a16:creationId xmlns:a16="http://schemas.microsoft.com/office/drawing/2014/main" id="{3C483946-6939-F0B5-5E8C-90C73A646371}"/>
              </a:ext>
            </a:extLst>
          </p:cNvPr>
          <p:cNvSpPr>
            <a:spLocks noGrp="1"/>
          </p:cNvSpPr>
          <p:nvPr>
            <p:ph idx="1"/>
          </p:nvPr>
        </p:nvSpPr>
        <p:spPr/>
        <p:txBody>
          <a:bodyPr>
            <a:normAutofit/>
          </a:bodyPr>
          <a:lstStyle/>
          <a:p>
            <a:r>
              <a:rPr lang="en-IN" dirty="0"/>
              <a:t>Resume Parsing</a:t>
            </a:r>
          </a:p>
          <a:p>
            <a:pPr lvl="1">
              <a:buFont typeface="Wingdings" panose="05000000000000000000" pitchFamily="2" charset="2"/>
              <a:buChar char="q"/>
            </a:pPr>
            <a:r>
              <a:rPr lang="en-IN" dirty="0"/>
              <a:t>Extract important information from resume.</a:t>
            </a:r>
          </a:p>
          <a:p>
            <a:pPr lvl="1">
              <a:buFont typeface="Wingdings" panose="05000000000000000000" pitchFamily="2" charset="2"/>
              <a:buChar char="q"/>
            </a:pPr>
            <a:r>
              <a:rPr lang="en-IN" dirty="0"/>
              <a:t>Convert into structured JSON/XML format.</a:t>
            </a:r>
          </a:p>
          <a:p>
            <a:pPr marL="685800" lvl="1">
              <a:buFont typeface="Wingdings" panose="05000000000000000000" pitchFamily="2" charset="2"/>
              <a:buChar char="q"/>
            </a:pPr>
            <a:endParaRPr lang="en-IN" dirty="0"/>
          </a:p>
          <a:p>
            <a:r>
              <a:rPr lang="en-IN" dirty="0"/>
              <a:t>Skill Extraction &amp; Matching</a:t>
            </a:r>
          </a:p>
          <a:p>
            <a:pPr lvl="1">
              <a:buFont typeface="Wingdings" panose="05000000000000000000" pitchFamily="2" charset="2"/>
              <a:buChar char="q"/>
            </a:pPr>
            <a:r>
              <a:rPr lang="en-IN" dirty="0"/>
              <a:t>Identify Skills(Python, SQL etc.)</a:t>
            </a:r>
          </a:p>
          <a:p>
            <a:pPr lvl="1">
              <a:buFont typeface="Wingdings" panose="05000000000000000000" pitchFamily="2" charset="2"/>
              <a:buChar char="q"/>
            </a:pPr>
            <a:r>
              <a:rPr lang="en-IN" dirty="0"/>
              <a:t>Matches candidate with job requirements.</a:t>
            </a:r>
          </a:p>
          <a:p>
            <a:pPr marL="0" indent="0">
              <a:buNone/>
            </a:pPr>
            <a:endParaRPr lang="en-IN" dirty="0"/>
          </a:p>
          <a:p>
            <a:endParaRPr lang="en-IN" dirty="0"/>
          </a:p>
        </p:txBody>
      </p:sp>
    </p:spTree>
    <p:extLst>
      <p:ext uri="{BB962C8B-B14F-4D97-AF65-F5344CB8AC3E}">
        <p14:creationId xmlns:p14="http://schemas.microsoft.com/office/powerpoint/2010/main" val="3225835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60C1-8CFB-A724-FD6D-CB22324E026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6964436-99FB-52EB-8465-B80EBCF9FF8C}"/>
              </a:ext>
            </a:extLst>
          </p:cNvPr>
          <p:cNvSpPr>
            <a:spLocks noGrp="1"/>
          </p:cNvSpPr>
          <p:nvPr>
            <p:ph idx="1"/>
          </p:nvPr>
        </p:nvSpPr>
        <p:spPr/>
        <p:txBody>
          <a:bodyPr/>
          <a:lstStyle/>
          <a:p>
            <a:r>
              <a:rPr lang="en-IN" dirty="0"/>
              <a:t>Data Standardization</a:t>
            </a:r>
          </a:p>
          <a:p>
            <a:pPr lvl="1">
              <a:buFont typeface="Wingdings" panose="05000000000000000000" pitchFamily="2" charset="2"/>
              <a:buChar char="q"/>
            </a:pPr>
            <a:r>
              <a:rPr lang="en-IN" dirty="0"/>
              <a:t>Cleans and formats data</a:t>
            </a:r>
          </a:p>
          <a:p>
            <a:pPr lvl="1">
              <a:buFont typeface="Wingdings" panose="05000000000000000000" pitchFamily="2" charset="2"/>
              <a:buChar char="q"/>
            </a:pPr>
            <a:r>
              <a:rPr lang="en-US" dirty="0"/>
              <a:t>Example: “ </a:t>
            </a:r>
            <a:r>
              <a:rPr lang="en-US" dirty="0" err="1"/>
              <a:t>B.Tech</a:t>
            </a:r>
            <a:r>
              <a:rPr lang="en-US" dirty="0"/>
              <a:t>”, “Bachelor of Technology” → standardized</a:t>
            </a:r>
          </a:p>
          <a:p>
            <a:pPr lvl="1">
              <a:buFont typeface="Wingdings" panose="05000000000000000000" pitchFamily="2" charset="2"/>
              <a:buChar char="q"/>
            </a:pPr>
            <a:endParaRPr lang="en-US" dirty="0"/>
          </a:p>
          <a:p>
            <a:r>
              <a:rPr lang="en-IN" dirty="0"/>
              <a:t> Multilingual Support</a:t>
            </a:r>
          </a:p>
          <a:p>
            <a:pPr lvl="1">
              <a:buFont typeface="Wingdings" panose="05000000000000000000" pitchFamily="2" charset="2"/>
              <a:buChar char="q"/>
            </a:pPr>
            <a:r>
              <a:rPr lang="en-IN" dirty="0"/>
              <a:t>Parses resumes in multiple languages</a:t>
            </a:r>
          </a:p>
          <a:p>
            <a:endParaRPr lang="en-IN" dirty="0"/>
          </a:p>
          <a:p>
            <a:endParaRPr lang="en-IN" dirty="0"/>
          </a:p>
        </p:txBody>
      </p:sp>
    </p:spTree>
    <p:extLst>
      <p:ext uri="{BB962C8B-B14F-4D97-AF65-F5344CB8AC3E}">
        <p14:creationId xmlns:p14="http://schemas.microsoft.com/office/powerpoint/2010/main" val="3179584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8F3B9-33B9-D7BD-C24D-8AAC7BA9F15D}"/>
              </a:ext>
            </a:extLst>
          </p:cNvPr>
          <p:cNvSpPr>
            <a:spLocks noGrp="1"/>
          </p:cNvSpPr>
          <p:nvPr>
            <p:ph type="ctrTitle"/>
          </p:nvPr>
        </p:nvSpPr>
        <p:spPr>
          <a:xfrm>
            <a:off x="826852" y="872061"/>
            <a:ext cx="3073940" cy="3436688"/>
          </a:xfrm>
        </p:spPr>
        <p:txBody>
          <a:bodyPr>
            <a:normAutofit/>
          </a:bodyPr>
          <a:lstStyle/>
          <a:p>
            <a:r>
              <a:rPr lang="en-US" sz="4400">
                <a:solidFill>
                  <a:srgbClr val="262626"/>
                </a:solidFill>
              </a:rPr>
              <a:t>Rchilli</a:t>
            </a:r>
            <a:endParaRPr lang="en-IN" sz="4400">
              <a:solidFill>
                <a:srgbClr val="262626"/>
              </a:solidFill>
            </a:endParaRPr>
          </a:p>
        </p:txBody>
      </p:sp>
      <p:sp>
        <p:nvSpPr>
          <p:cNvPr id="3" name="Subtitle 2">
            <a:extLst>
              <a:ext uri="{FF2B5EF4-FFF2-40B4-BE49-F238E27FC236}">
                <a16:creationId xmlns:a16="http://schemas.microsoft.com/office/drawing/2014/main" id="{992E8E78-28B6-2426-E4FB-84E3BF9B37DB}"/>
              </a:ext>
            </a:extLst>
          </p:cNvPr>
          <p:cNvSpPr>
            <a:spLocks noGrp="1"/>
          </p:cNvSpPr>
          <p:nvPr>
            <p:ph type="subTitle" idx="1"/>
          </p:nvPr>
        </p:nvSpPr>
        <p:spPr>
          <a:xfrm>
            <a:off x="826851" y="4439732"/>
            <a:ext cx="3112851" cy="1452641"/>
          </a:xfrm>
        </p:spPr>
        <p:txBody>
          <a:bodyPr>
            <a:normAutofit/>
          </a:bodyPr>
          <a:lstStyle/>
          <a:p>
            <a:endParaRPr lang="en-IN">
              <a:solidFill>
                <a:srgbClr val="000000"/>
              </a:solidFill>
            </a:endParaRPr>
          </a:p>
        </p:txBody>
      </p:sp>
      <p:pic>
        <p:nvPicPr>
          <p:cNvPr id="9" name="Picture 8">
            <a:extLst>
              <a:ext uri="{FF2B5EF4-FFF2-40B4-BE49-F238E27FC236}">
                <a16:creationId xmlns:a16="http://schemas.microsoft.com/office/drawing/2014/main" id="{64810506-4093-A456-E2AC-170055403F67}"/>
              </a:ext>
            </a:extLst>
          </p:cNvPr>
          <p:cNvPicPr>
            <a:picLocks noChangeAspect="1"/>
          </p:cNvPicPr>
          <p:nvPr/>
        </p:nvPicPr>
        <p:blipFill>
          <a:blip r:embed="rId2"/>
          <a:stretch>
            <a:fillRect/>
          </a:stretch>
        </p:blipFill>
        <p:spPr>
          <a:xfrm>
            <a:off x="5435910" y="666981"/>
            <a:ext cx="6098041" cy="5472991"/>
          </a:xfrm>
          <a:prstGeom prst="rect">
            <a:avLst/>
          </a:prstGeom>
        </p:spPr>
      </p:pic>
    </p:spTree>
    <p:extLst>
      <p:ext uri="{BB962C8B-B14F-4D97-AF65-F5344CB8AC3E}">
        <p14:creationId xmlns:p14="http://schemas.microsoft.com/office/powerpoint/2010/main" val="2951021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F78CC-132F-E2DB-45EB-944AE73BCFEB}"/>
              </a:ext>
            </a:extLst>
          </p:cNvPr>
          <p:cNvSpPr>
            <a:spLocks noGrp="1"/>
          </p:cNvSpPr>
          <p:nvPr>
            <p:ph type="title"/>
          </p:nvPr>
        </p:nvSpPr>
        <p:spPr>
          <a:xfrm>
            <a:off x="929140" y="972766"/>
            <a:ext cx="2835464" cy="1254868"/>
          </a:xfrm>
        </p:spPr>
        <p:txBody>
          <a:bodyPr anchor="b">
            <a:normAutofit/>
          </a:bodyPr>
          <a:lstStyle/>
          <a:p>
            <a:r>
              <a:rPr lang="en-US" sz="2800" dirty="0">
                <a:solidFill>
                  <a:srgbClr val="262626"/>
                </a:solidFill>
              </a:rPr>
              <a:t>Resume Parsing Flow Chart </a:t>
            </a:r>
            <a:endParaRPr lang="en-IN" sz="2800" dirty="0">
              <a:solidFill>
                <a:srgbClr val="262626"/>
              </a:solidFill>
            </a:endParaRPr>
          </a:p>
        </p:txBody>
      </p:sp>
      <p:sp>
        <p:nvSpPr>
          <p:cNvPr id="9" name="Content Placeholder 8">
            <a:extLst>
              <a:ext uri="{FF2B5EF4-FFF2-40B4-BE49-F238E27FC236}">
                <a16:creationId xmlns:a16="http://schemas.microsoft.com/office/drawing/2014/main" id="{4C9C833D-C7F0-84DB-EDEE-EBDCEE4BEC82}"/>
              </a:ext>
            </a:extLst>
          </p:cNvPr>
          <p:cNvSpPr>
            <a:spLocks noGrp="1"/>
          </p:cNvSpPr>
          <p:nvPr>
            <p:ph idx="1"/>
          </p:nvPr>
        </p:nvSpPr>
        <p:spPr>
          <a:xfrm>
            <a:off x="929141" y="2430471"/>
            <a:ext cx="2835464" cy="3552039"/>
          </a:xfrm>
        </p:spPr>
        <p:txBody>
          <a:bodyPr>
            <a:normAutofit/>
          </a:bodyPr>
          <a:lstStyle/>
          <a:p>
            <a:endParaRPr lang="en-US" sz="1800">
              <a:solidFill>
                <a:srgbClr val="262626"/>
              </a:solidFill>
            </a:endParaRPr>
          </a:p>
        </p:txBody>
      </p:sp>
      <p:pic>
        <p:nvPicPr>
          <p:cNvPr id="5" name="Content Placeholder 4">
            <a:extLst>
              <a:ext uri="{FF2B5EF4-FFF2-40B4-BE49-F238E27FC236}">
                <a16:creationId xmlns:a16="http://schemas.microsoft.com/office/drawing/2014/main" id="{60F75C04-673A-3B0B-E969-7012CB63E93D}"/>
              </a:ext>
            </a:extLst>
          </p:cNvPr>
          <p:cNvPicPr>
            <a:picLocks noChangeAspect="1"/>
          </p:cNvPicPr>
          <p:nvPr/>
        </p:nvPicPr>
        <p:blipFill>
          <a:blip r:embed="rId2"/>
          <a:stretch>
            <a:fillRect/>
          </a:stretch>
        </p:blipFill>
        <p:spPr>
          <a:xfrm>
            <a:off x="5753918" y="609602"/>
            <a:ext cx="5462024" cy="5587749"/>
          </a:xfrm>
          <a:prstGeom prst="rect">
            <a:avLst/>
          </a:prstGeom>
        </p:spPr>
      </p:pic>
    </p:spTree>
    <p:extLst>
      <p:ext uri="{BB962C8B-B14F-4D97-AF65-F5344CB8AC3E}">
        <p14:creationId xmlns:p14="http://schemas.microsoft.com/office/powerpoint/2010/main" val="2394132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EA9DD-BF1B-F0BB-E828-2EC83BF186FE}"/>
              </a:ext>
            </a:extLst>
          </p:cNvPr>
          <p:cNvSpPr>
            <a:spLocks noGrp="1"/>
          </p:cNvSpPr>
          <p:nvPr>
            <p:ph type="title"/>
          </p:nvPr>
        </p:nvSpPr>
        <p:spPr/>
        <p:txBody>
          <a:bodyPr/>
          <a:lstStyle/>
          <a:p>
            <a:r>
              <a:rPr lang="en-US" dirty="0"/>
              <a:t>Example </a:t>
            </a:r>
            <a:endParaRPr lang="en-IN" dirty="0"/>
          </a:p>
        </p:txBody>
      </p:sp>
      <p:pic>
        <p:nvPicPr>
          <p:cNvPr id="5" name="Content Placeholder 4">
            <a:extLst>
              <a:ext uri="{FF2B5EF4-FFF2-40B4-BE49-F238E27FC236}">
                <a16:creationId xmlns:a16="http://schemas.microsoft.com/office/drawing/2014/main" id="{D73EFF23-19C5-5D5C-13C4-B7C4E4DB77A8}"/>
              </a:ext>
            </a:extLst>
          </p:cNvPr>
          <p:cNvPicPr>
            <a:picLocks noGrp="1" noChangeAspect="1"/>
          </p:cNvPicPr>
          <p:nvPr>
            <p:ph idx="1"/>
          </p:nvPr>
        </p:nvPicPr>
        <p:blipFill>
          <a:blip r:embed="rId2"/>
          <a:stretch>
            <a:fillRect/>
          </a:stretch>
        </p:blipFill>
        <p:spPr>
          <a:xfrm>
            <a:off x="1269528" y="2160588"/>
            <a:ext cx="7412981" cy="3881437"/>
          </a:xfrm>
          <a:prstGeom prst="rect">
            <a:avLst/>
          </a:prstGeom>
        </p:spPr>
      </p:pic>
    </p:spTree>
    <p:extLst>
      <p:ext uri="{BB962C8B-B14F-4D97-AF65-F5344CB8AC3E}">
        <p14:creationId xmlns:p14="http://schemas.microsoft.com/office/powerpoint/2010/main" val="675150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E19C-1CDC-75E9-8641-BBFF8DD8F08E}"/>
              </a:ext>
            </a:extLst>
          </p:cNvPr>
          <p:cNvSpPr>
            <a:spLocks noGrp="1"/>
          </p:cNvSpPr>
          <p:nvPr>
            <p:ph type="title"/>
          </p:nvPr>
        </p:nvSpPr>
        <p:spPr>
          <a:xfrm>
            <a:off x="643467" y="816638"/>
            <a:ext cx="3367359" cy="5224724"/>
          </a:xfrm>
        </p:spPr>
        <p:txBody>
          <a:bodyPr anchor="ctr">
            <a:normAutofit/>
          </a:bodyPr>
          <a:lstStyle/>
          <a:p>
            <a:r>
              <a:rPr lang="en-IN" dirty="0"/>
              <a:t>03. Attendance &amp; Leave Management</a:t>
            </a:r>
          </a:p>
        </p:txBody>
      </p:sp>
      <p:sp>
        <p:nvSpPr>
          <p:cNvPr id="3" name="Content Placeholder 2">
            <a:extLst>
              <a:ext uri="{FF2B5EF4-FFF2-40B4-BE49-F238E27FC236}">
                <a16:creationId xmlns:a16="http://schemas.microsoft.com/office/drawing/2014/main" id="{85C80258-3221-59F5-3C52-B597E9DC906C}"/>
              </a:ext>
            </a:extLst>
          </p:cNvPr>
          <p:cNvSpPr>
            <a:spLocks noGrp="1"/>
          </p:cNvSpPr>
          <p:nvPr>
            <p:ph idx="1"/>
          </p:nvPr>
        </p:nvSpPr>
        <p:spPr>
          <a:xfrm>
            <a:off x="4654295" y="816638"/>
            <a:ext cx="4619706" cy="5224724"/>
          </a:xfrm>
        </p:spPr>
        <p:txBody>
          <a:bodyPr anchor="ctr">
            <a:normAutofit/>
          </a:bodyPr>
          <a:lstStyle/>
          <a:p>
            <a:pPr marL="0" indent="0">
              <a:buNone/>
            </a:pPr>
            <a:endParaRPr lang="en-US" dirty="0"/>
          </a:p>
          <a:p>
            <a:r>
              <a:rPr lang="en-US" dirty="0"/>
              <a:t>Face recognition / biometric systems </a:t>
            </a:r>
          </a:p>
          <a:p>
            <a:r>
              <a:rPr lang="en-US" dirty="0"/>
              <a:t>Auto leave approval using rules </a:t>
            </a:r>
          </a:p>
          <a:p>
            <a:r>
              <a:rPr lang="en-US" dirty="0"/>
              <a:t>Tech:</a:t>
            </a:r>
          </a:p>
          <a:p>
            <a:pPr lvl="1">
              <a:buFont typeface="Wingdings" panose="05000000000000000000" pitchFamily="2" charset="2"/>
              <a:buChar char="q"/>
            </a:pPr>
            <a:r>
              <a:rPr lang="en-US" dirty="0"/>
              <a:t>Computer Vision </a:t>
            </a:r>
          </a:p>
          <a:p>
            <a:pPr marL="0" indent="0">
              <a:buNone/>
            </a:pPr>
            <a:r>
              <a:rPr lang="en-US" dirty="0"/>
              <a:t>Example:</a:t>
            </a:r>
          </a:p>
          <a:p>
            <a:pPr lvl="1">
              <a:buFont typeface="Wingdings" panose="05000000000000000000" pitchFamily="2" charset="2"/>
              <a:buChar char="q"/>
            </a:pPr>
            <a:r>
              <a:rPr lang="en-US" dirty="0"/>
              <a:t>Employee face → marked present automatically </a:t>
            </a:r>
          </a:p>
          <a:p>
            <a:pPr lvl="1">
              <a:buFont typeface="Wingdings" panose="05000000000000000000" pitchFamily="2" charset="2"/>
              <a:buChar char="q"/>
            </a:pPr>
            <a:endParaRPr lang="en-IN" dirty="0"/>
          </a:p>
        </p:txBody>
      </p:sp>
    </p:spTree>
    <p:extLst>
      <p:ext uri="{BB962C8B-B14F-4D97-AF65-F5344CB8AC3E}">
        <p14:creationId xmlns:p14="http://schemas.microsoft.com/office/powerpoint/2010/main" val="216910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3F4E-C235-BB53-3A30-2310DE0D4528}"/>
              </a:ext>
            </a:extLst>
          </p:cNvPr>
          <p:cNvSpPr>
            <a:spLocks noGrp="1"/>
          </p:cNvSpPr>
          <p:nvPr>
            <p:ph type="title"/>
          </p:nvPr>
        </p:nvSpPr>
        <p:spPr>
          <a:xfrm>
            <a:off x="643467" y="816638"/>
            <a:ext cx="3367359" cy="5224724"/>
          </a:xfrm>
        </p:spPr>
        <p:txBody>
          <a:bodyPr anchor="ctr">
            <a:normAutofit/>
          </a:bodyPr>
          <a:lstStyle/>
          <a:p>
            <a:r>
              <a:rPr lang="en-IN"/>
              <a:t>Face Detection Models</a:t>
            </a:r>
          </a:p>
        </p:txBody>
      </p:sp>
      <p:sp>
        <p:nvSpPr>
          <p:cNvPr id="3" name="Content Placeholder 2">
            <a:extLst>
              <a:ext uri="{FF2B5EF4-FFF2-40B4-BE49-F238E27FC236}">
                <a16:creationId xmlns:a16="http://schemas.microsoft.com/office/drawing/2014/main" id="{17B20F41-DE7C-1CD8-8BC1-773070872C20}"/>
              </a:ext>
            </a:extLst>
          </p:cNvPr>
          <p:cNvSpPr>
            <a:spLocks noGrp="1"/>
          </p:cNvSpPr>
          <p:nvPr>
            <p:ph idx="1"/>
          </p:nvPr>
        </p:nvSpPr>
        <p:spPr>
          <a:xfrm>
            <a:off x="4654295" y="816638"/>
            <a:ext cx="4619706" cy="5224724"/>
          </a:xfrm>
        </p:spPr>
        <p:txBody>
          <a:bodyPr anchor="ctr">
            <a:normAutofit/>
          </a:bodyPr>
          <a:lstStyle/>
          <a:p>
            <a:r>
              <a:rPr lang="en-US" dirty="0"/>
              <a:t>Haar Cascade(</a:t>
            </a:r>
            <a:r>
              <a:rPr lang="en-US" dirty="0" err="1"/>
              <a:t>opencv</a:t>
            </a:r>
            <a:r>
              <a:rPr lang="en-US" dirty="0"/>
              <a:t>)</a:t>
            </a:r>
          </a:p>
          <a:p>
            <a:r>
              <a:rPr lang="en-US" dirty="0"/>
              <a:t>YOLO (you look only once)</a:t>
            </a:r>
          </a:p>
          <a:p>
            <a:r>
              <a:rPr lang="en-US" dirty="0"/>
              <a:t>MTCNN(More accurate)</a:t>
            </a:r>
          </a:p>
          <a:p>
            <a:r>
              <a:rPr lang="en-US" dirty="0"/>
              <a:t>Retina Face (High Accuracy)</a:t>
            </a:r>
          </a:p>
          <a:p>
            <a:endParaRPr lang="en-IN" dirty="0"/>
          </a:p>
        </p:txBody>
      </p:sp>
    </p:spTree>
    <p:extLst>
      <p:ext uri="{BB962C8B-B14F-4D97-AF65-F5344CB8AC3E}">
        <p14:creationId xmlns:p14="http://schemas.microsoft.com/office/powerpoint/2010/main" val="1608401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C460B-3255-6FDB-646F-9F2D11253A27}"/>
              </a:ext>
            </a:extLst>
          </p:cNvPr>
          <p:cNvSpPr>
            <a:spLocks noGrp="1"/>
          </p:cNvSpPr>
          <p:nvPr>
            <p:ph type="title"/>
          </p:nvPr>
        </p:nvSpPr>
        <p:spPr>
          <a:xfrm>
            <a:off x="643467" y="816638"/>
            <a:ext cx="3367359" cy="5224724"/>
          </a:xfrm>
        </p:spPr>
        <p:txBody>
          <a:bodyPr anchor="ctr">
            <a:normAutofit/>
          </a:bodyPr>
          <a:lstStyle/>
          <a:p>
            <a:r>
              <a:rPr lang="en-US"/>
              <a:t>Face Recognition Models</a:t>
            </a:r>
            <a:endParaRPr lang="en-IN"/>
          </a:p>
        </p:txBody>
      </p:sp>
      <p:sp>
        <p:nvSpPr>
          <p:cNvPr id="7" name="Content Placeholder 2">
            <a:extLst>
              <a:ext uri="{FF2B5EF4-FFF2-40B4-BE49-F238E27FC236}">
                <a16:creationId xmlns:a16="http://schemas.microsoft.com/office/drawing/2014/main" id="{BF2410B5-3731-7D6F-3B13-95C3BDC7FEAC}"/>
              </a:ext>
            </a:extLst>
          </p:cNvPr>
          <p:cNvSpPr>
            <a:spLocks noGrp="1"/>
          </p:cNvSpPr>
          <p:nvPr>
            <p:ph idx="1"/>
          </p:nvPr>
        </p:nvSpPr>
        <p:spPr>
          <a:xfrm>
            <a:off x="4654295" y="816638"/>
            <a:ext cx="4619706" cy="5224724"/>
          </a:xfrm>
        </p:spPr>
        <p:txBody>
          <a:bodyPr anchor="ctr">
            <a:normAutofit/>
          </a:bodyPr>
          <a:lstStyle/>
          <a:p>
            <a:r>
              <a:rPr lang="en-US"/>
              <a:t>Face Net</a:t>
            </a:r>
          </a:p>
          <a:p>
            <a:r>
              <a:rPr lang="en-US"/>
              <a:t>VGG-Face</a:t>
            </a:r>
          </a:p>
          <a:p>
            <a:r>
              <a:rPr lang="en-US"/>
              <a:t>Deep Face</a:t>
            </a:r>
          </a:p>
          <a:p>
            <a:r>
              <a:rPr lang="en-US"/>
              <a:t>ARC Face</a:t>
            </a:r>
            <a:endParaRPr lang="en-IN"/>
          </a:p>
        </p:txBody>
      </p:sp>
    </p:spTree>
    <p:extLst>
      <p:ext uri="{BB962C8B-B14F-4D97-AF65-F5344CB8AC3E}">
        <p14:creationId xmlns:p14="http://schemas.microsoft.com/office/powerpoint/2010/main" val="4016662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238B4-E58A-3B0B-7B79-BBF2DDC91CE5}"/>
              </a:ext>
            </a:extLst>
          </p:cNvPr>
          <p:cNvSpPr>
            <a:spLocks noGrp="1"/>
          </p:cNvSpPr>
          <p:nvPr>
            <p:ph type="title"/>
          </p:nvPr>
        </p:nvSpPr>
        <p:spPr>
          <a:xfrm>
            <a:off x="643467" y="816638"/>
            <a:ext cx="3367359" cy="5224724"/>
          </a:xfrm>
        </p:spPr>
        <p:txBody>
          <a:bodyPr anchor="ctr">
            <a:normAutofit/>
          </a:bodyPr>
          <a:lstStyle/>
          <a:p>
            <a:r>
              <a:rPr lang="en-US" dirty="0"/>
              <a:t>04. AI Chatbots for Employee Support</a:t>
            </a:r>
            <a:endParaRPr lang="en-IN" dirty="0"/>
          </a:p>
        </p:txBody>
      </p:sp>
      <p:sp>
        <p:nvSpPr>
          <p:cNvPr id="3" name="Content Placeholder 2">
            <a:extLst>
              <a:ext uri="{FF2B5EF4-FFF2-40B4-BE49-F238E27FC236}">
                <a16:creationId xmlns:a16="http://schemas.microsoft.com/office/drawing/2014/main" id="{50A61E40-54E0-7F60-3B2D-58E011D5E981}"/>
              </a:ext>
            </a:extLst>
          </p:cNvPr>
          <p:cNvSpPr>
            <a:spLocks noGrp="1"/>
          </p:cNvSpPr>
          <p:nvPr>
            <p:ph idx="1"/>
          </p:nvPr>
        </p:nvSpPr>
        <p:spPr>
          <a:xfrm>
            <a:off x="4654295" y="816638"/>
            <a:ext cx="4619706" cy="5224724"/>
          </a:xfrm>
        </p:spPr>
        <p:txBody>
          <a:bodyPr anchor="ctr">
            <a:normAutofit/>
          </a:bodyPr>
          <a:lstStyle/>
          <a:p>
            <a:r>
              <a:rPr lang="en-IN" dirty="0"/>
              <a:t>We can build Chatbot for answering the queries like: </a:t>
            </a:r>
          </a:p>
          <a:p>
            <a:pPr lvl="1"/>
            <a:r>
              <a:rPr lang="en-IN" dirty="0"/>
              <a:t>Leave policy </a:t>
            </a:r>
          </a:p>
          <a:p>
            <a:pPr lvl="1"/>
            <a:r>
              <a:rPr lang="en-IN" dirty="0"/>
              <a:t>Salary queries </a:t>
            </a:r>
          </a:p>
          <a:p>
            <a:pPr lvl="1"/>
            <a:r>
              <a:rPr lang="en-IN" dirty="0"/>
              <a:t>Holidays </a:t>
            </a:r>
          </a:p>
          <a:p>
            <a:r>
              <a:rPr lang="en-IN" dirty="0"/>
              <a:t>Tools:</a:t>
            </a:r>
          </a:p>
          <a:p>
            <a:pPr marL="857250" lvl="1" indent="-400050">
              <a:buFont typeface="+mj-lt"/>
              <a:buAutoNum type="romanLcPeriod"/>
            </a:pPr>
            <a:r>
              <a:rPr lang="en-IN" dirty="0"/>
              <a:t>Leena AI </a:t>
            </a:r>
          </a:p>
          <a:p>
            <a:pPr marL="857250" lvl="1" indent="-400050">
              <a:buFont typeface="+mj-lt"/>
              <a:buAutoNum type="romanLcPeriod"/>
            </a:pPr>
            <a:r>
              <a:rPr lang="en-IN" dirty="0"/>
              <a:t>Paradox Olivia </a:t>
            </a:r>
          </a:p>
          <a:p>
            <a:pPr marL="857250" lvl="1" indent="-400050">
              <a:buFont typeface="+mj-lt"/>
              <a:buAutoNum type="romanLcPeriod"/>
            </a:pPr>
            <a:r>
              <a:rPr lang="en-IN" dirty="0"/>
              <a:t>Lang Chain</a:t>
            </a:r>
          </a:p>
          <a:p>
            <a:pPr marL="0" indent="0">
              <a:buNone/>
            </a:pPr>
            <a:r>
              <a:rPr lang="en-IN" dirty="0"/>
              <a:t>Example:</a:t>
            </a:r>
          </a:p>
          <a:p>
            <a:r>
              <a:rPr lang="en-IN" dirty="0"/>
              <a:t>“How many leaves left?” → bot replies instantly</a:t>
            </a:r>
          </a:p>
          <a:p>
            <a:endParaRPr lang="en-IN" dirty="0"/>
          </a:p>
        </p:txBody>
      </p:sp>
    </p:spTree>
    <p:extLst>
      <p:ext uri="{BB962C8B-B14F-4D97-AF65-F5344CB8AC3E}">
        <p14:creationId xmlns:p14="http://schemas.microsoft.com/office/powerpoint/2010/main" val="3446085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61EE4-5E30-EFE7-48CB-BBC3280C6674}"/>
              </a:ext>
            </a:extLst>
          </p:cNvPr>
          <p:cNvSpPr>
            <a:spLocks noGrp="1"/>
          </p:cNvSpPr>
          <p:nvPr>
            <p:ph type="title"/>
          </p:nvPr>
        </p:nvSpPr>
        <p:spPr/>
        <p:txBody>
          <a:bodyPr/>
          <a:lstStyle/>
          <a:p>
            <a:r>
              <a:rPr lang="en-US" dirty="0"/>
              <a:t>What is an AI Chatbot?</a:t>
            </a:r>
            <a:endParaRPr lang="en-IN" dirty="0"/>
          </a:p>
        </p:txBody>
      </p:sp>
      <p:sp>
        <p:nvSpPr>
          <p:cNvPr id="3" name="Content Placeholder 2">
            <a:extLst>
              <a:ext uri="{FF2B5EF4-FFF2-40B4-BE49-F238E27FC236}">
                <a16:creationId xmlns:a16="http://schemas.microsoft.com/office/drawing/2014/main" id="{23178F52-8633-969F-3723-D840CC3D273C}"/>
              </a:ext>
            </a:extLst>
          </p:cNvPr>
          <p:cNvSpPr>
            <a:spLocks noGrp="1"/>
          </p:cNvSpPr>
          <p:nvPr>
            <p:ph idx="1"/>
          </p:nvPr>
        </p:nvSpPr>
        <p:spPr/>
        <p:txBody>
          <a:bodyPr/>
          <a:lstStyle/>
          <a:p>
            <a:r>
              <a:rPr lang="en-US" dirty="0"/>
              <a:t>An AI Chatbot is a software system that uses Artificial Intelligence (AI) to interact with employees or candidates through text or voice.</a:t>
            </a:r>
          </a:p>
          <a:p>
            <a:r>
              <a:rPr lang="en-US" dirty="0"/>
              <a:t>It acts like a virtual HR assistant that can answer questions, automate tasks, and assist employees 24/7.</a:t>
            </a:r>
          </a:p>
          <a:p>
            <a:endParaRPr lang="en-IN" dirty="0"/>
          </a:p>
        </p:txBody>
      </p:sp>
    </p:spTree>
    <p:extLst>
      <p:ext uri="{BB962C8B-B14F-4D97-AF65-F5344CB8AC3E}">
        <p14:creationId xmlns:p14="http://schemas.microsoft.com/office/powerpoint/2010/main" val="2403225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0CF7-65D5-B82D-97F7-F8317FBE7CF1}"/>
              </a:ext>
            </a:extLst>
          </p:cNvPr>
          <p:cNvSpPr>
            <a:spLocks noGrp="1"/>
          </p:cNvSpPr>
          <p:nvPr>
            <p:ph type="title"/>
          </p:nvPr>
        </p:nvSpPr>
        <p:spPr/>
        <p:txBody>
          <a:bodyPr/>
          <a:lstStyle/>
          <a:p>
            <a:r>
              <a:rPr lang="en-US" dirty="0"/>
              <a:t>Why AI Chatbots in HRM?</a:t>
            </a:r>
            <a:endParaRPr lang="en-IN" dirty="0"/>
          </a:p>
        </p:txBody>
      </p:sp>
      <p:sp>
        <p:nvSpPr>
          <p:cNvPr id="3" name="Content Placeholder 2">
            <a:extLst>
              <a:ext uri="{FF2B5EF4-FFF2-40B4-BE49-F238E27FC236}">
                <a16:creationId xmlns:a16="http://schemas.microsoft.com/office/drawing/2014/main" id="{0417988D-91DC-4711-2B43-6B84C7C7D2AC}"/>
              </a:ext>
            </a:extLst>
          </p:cNvPr>
          <p:cNvSpPr>
            <a:spLocks noGrp="1"/>
          </p:cNvSpPr>
          <p:nvPr>
            <p:ph idx="1"/>
          </p:nvPr>
        </p:nvSpPr>
        <p:spPr/>
        <p:txBody>
          <a:bodyPr/>
          <a:lstStyle/>
          <a:p>
            <a:r>
              <a:rPr lang="en-US" dirty="0"/>
              <a:t>Traditional HR teams handle many repetitive queries like:</a:t>
            </a:r>
          </a:p>
          <a:p>
            <a:pPr lvl="1"/>
            <a:r>
              <a:rPr lang="en-US" dirty="0"/>
              <a:t>“What is my leave balance?” </a:t>
            </a:r>
          </a:p>
          <a:p>
            <a:pPr lvl="1"/>
            <a:r>
              <a:rPr lang="en-US" dirty="0"/>
              <a:t>“When will salary be credited?” </a:t>
            </a:r>
          </a:p>
          <a:p>
            <a:pPr lvl="1"/>
            <a:r>
              <a:rPr lang="en-US" dirty="0"/>
              <a:t>“How to apply for leave?” </a:t>
            </a:r>
          </a:p>
          <a:p>
            <a:r>
              <a:rPr lang="en-US" dirty="0"/>
              <a:t> Chatbots automate all this → saving time &amp; effort.</a:t>
            </a:r>
          </a:p>
          <a:p>
            <a:endParaRPr lang="en-IN" dirty="0"/>
          </a:p>
        </p:txBody>
      </p:sp>
    </p:spTree>
    <p:extLst>
      <p:ext uri="{BB962C8B-B14F-4D97-AF65-F5344CB8AC3E}">
        <p14:creationId xmlns:p14="http://schemas.microsoft.com/office/powerpoint/2010/main" val="2167769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9B307-5452-FB4C-11B4-EAE891B1CA7D}"/>
              </a:ext>
            </a:extLst>
          </p:cNvPr>
          <p:cNvSpPr>
            <a:spLocks noGrp="1"/>
          </p:cNvSpPr>
          <p:nvPr>
            <p:ph type="title"/>
          </p:nvPr>
        </p:nvSpPr>
        <p:spPr/>
        <p:txBody>
          <a:bodyPr/>
          <a:lstStyle/>
          <a:p>
            <a:r>
              <a:rPr lang="en-US" dirty="0"/>
              <a:t>Key Functions of HR Chatbots</a:t>
            </a:r>
            <a:endParaRPr lang="en-IN" dirty="0"/>
          </a:p>
        </p:txBody>
      </p:sp>
      <p:sp>
        <p:nvSpPr>
          <p:cNvPr id="3" name="Content Placeholder 2">
            <a:extLst>
              <a:ext uri="{FF2B5EF4-FFF2-40B4-BE49-F238E27FC236}">
                <a16:creationId xmlns:a16="http://schemas.microsoft.com/office/drawing/2014/main" id="{97969464-9A87-D090-34D5-9FFA05AA7A95}"/>
              </a:ext>
            </a:extLst>
          </p:cNvPr>
          <p:cNvSpPr>
            <a:spLocks noGrp="1"/>
          </p:cNvSpPr>
          <p:nvPr>
            <p:ph idx="1"/>
          </p:nvPr>
        </p:nvSpPr>
        <p:spPr/>
        <p:txBody>
          <a:bodyPr/>
          <a:lstStyle/>
          <a:p>
            <a:r>
              <a:rPr lang="en-IN" dirty="0"/>
              <a:t>Employee Support</a:t>
            </a:r>
          </a:p>
          <a:p>
            <a:pPr lvl="1">
              <a:buFont typeface="Wingdings" panose="05000000000000000000" pitchFamily="2" charset="2"/>
              <a:buChar char="q"/>
            </a:pPr>
            <a:r>
              <a:rPr lang="en-IN" dirty="0"/>
              <a:t>Answer the employee queries.</a:t>
            </a:r>
          </a:p>
          <a:p>
            <a:pPr lvl="1">
              <a:buFont typeface="Wingdings" panose="05000000000000000000" pitchFamily="2" charset="2"/>
              <a:buChar char="q"/>
            </a:pPr>
            <a:r>
              <a:rPr lang="en-US" dirty="0"/>
              <a:t>Provide leave balance, policies, salary details</a:t>
            </a:r>
          </a:p>
          <a:p>
            <a:r>
              <a:rPr lang="en-IN" dirty="0"/>
              <a:t>Attendance &amp; Leave Management</a:t>
            </a:r>
          </a:p>
          <a:p>
            <a:pPr lvl="1">
              <a:buFont typeface="Wingdings" panose="05000000000000000000" pitchFamily="2" charset="2"/>
              <a:buChar char="q"/>
            </a:pPr>
            <a:r>
              <a:rPr lang="en-IN" dirty="0"/>
              <a:t>Apply leave via chat</a:t>
            </a:r>
          </a:p>
          <a:p>
            <a:pPr lvl="1">
              <a:buFont typeface="Wingdings" panose="05000000000000000000" pitchFamily="2" charset="2"/>
              <a:buChar char="q"/>
            </a:pPr>
            <a:r>
              <a:rPr lang="en-IN" dirty="0"/>
              <a:t>Check attendance status</a:t>
            </a:r>
          </a:p>
          <a:p>
            <a:r>
              <a:rPr lang="en-IN" dirty="0"/>
              <a:t>Feedback Collection</a:t>
            </a:r>
          </a:p>
          <a:p>
            <a:pPr lvl="1">
              <a:buFont typeface="Wingdings" panose="05000000000000000000" pitchFamily="2" charset="2"/>
              <a:buChar char="q"/>
            </a:pPr>
            <a:r>
              <a:rPr lang="en-US" dirty="0"/>
              <a:t>Collect employee feedback </a:t>
            </a:r>
          </a:p>
          <a:p>
            <a:pPr lvl="1">
              <a:buFont typeface="Wingdings" panose="05000000000000000000" pitchFamily="2" charset="2"/>
              <a:buChar char="q"/>
            </a:pPr>
            <a:r>
              <a:rPr lang="en-US" dirty="0"/>
              <a:t>Run surveys automatically </a:t>
            </a:r>
          </a:p>
          <a:p>
            <a:endParaRPr lang="en-IN" dirty="0"/>
          </a:p>
          <a:p>
            <a:endParaRPr lang="en-US" dirty="0"/>
          </a:p>
        </p:txBody>
      </p:sp>
      <p:sp>
        <p:nvSpPr>
          <p:cNvPr id="5" name="Rectangle 2">
            <a:extLst>
              <a:ext uri="{FF2B5EF4-FFF2-40B4-BE49-F238E27FC236}">
                <a16:creationId xmlns:a16="http://schemas.microsoft.com/office/drawing/2014/main" id="{D28AF948-C45A-0299-03D6-6D856FE39294}"/>
              </a:ext>
            </a:extLst>
          </p:cNvPr>
          <p:cNvSpPr>
            <a:spLocks noChangeArrowheads="1"/>
          </p:cNvSpPr>
          <p:nvPr/>
        </p:nvSpPr>
        <p:spPr bwMode="auto">
          <a:xfrm>
            <a:off x="0" y="-323166"/>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853333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28E3E-A000-3409-85CE-6DE5BDEF2D77}"/>
              </a:ext>
            </a:extLst>
          </p:cNvPr>
          <p:cNvSpPr>
            <a:spLocks noGrp="1"/>
          </p:cNvSpPr>
          <p:nvPr>
            <p:ph type="title"/>
          </p:nvPr>
        </p:nvSpPr>
        <p:spPr/>
        <p:txBody>
          <a:bodyPr/>
          <a:lstStyle/>
          <a:p>
            <a:r>
              <a:rPr lang="en-IN" dirty="0"/>
              <a:t>Technologies Behind AI Chatbots</a:t>
            </a:r>
          </a:p>
        </p:txBody>
      </p:sp>
      <p:sp>
        <p:nvSpPr>
          <p:cNvPr id="3" name="Content Placeholder 2">
            <a:extLst>
              <a:ext uri="{FF2B5EF4-FFF2-40B4-BE49-F238E27FC236}">
                <a16:creationId xmlns:a16="http://schemas.microsoft.com/office/drawing/2014/main" id="{9D174977-4199-7BB1-D794-C20284022FB6}"/>
              </a:ext>
            </a:extLst>
          </p:cNvPr>
          <p:cNvSpPr>
            <a:spLocks noGrp="1"/>
          </p:cNvSpPr>
          <p:nvPr>
            <p:ph idx="1"/>
          </p:nvPr>
        </p:nvSpPr>
        <p:spPr/>
        <p:txBody>
          <a:bodyPr/>
          <a:lstStyle/>
          <a:p>
            <a:r>
              <a:rPr lang="en-US" b="1" dirty="0"/>
              <a:t>NLP (Natural Language Processing)</a:t>
            </a:r>
          </a:p>
          <a:p>
            <a:pPr lvl="1">
              <a:buFont typeface="Wingdings" panose="05000000000000000000" pitchFamily="2" charset="2"/>
              <a:buChar char="q"/>
            </a:pPr>
            <a:r>
              <a:rPr lang="en-US" dirty="0"/>
              <a:t>Understand human language </a:t>
            </a:r>
          </a:p>
          <a:p>
            <a:pPr lvl="1">
              <a:buFont typeface="Wingdings" panose="05000000000000000000" pitchFamily="2" charset="2"/>
              <a:buChar char="q"/>
            </a:pPr>
            <a:r>
              <a:rPr lang="en-US" dirty="0"/>
              <a:t>Example: “I want leave tomorrow”</a:t>
            </a:r>
          </a:p>
          <a:p>
            <a:r>
              <a:rPr lang="en-US" b="1" dirty="0"/>
              <a:t>Machine Learning</a:t>
            </a:r>
          </a:p>
          <a:p>
            <a:pPr lvl="1">
              <a:buFont typeface="Wingdings" panose="05000000000000000000" pitchFamily="2" charset="2"/>
              <a:buChar char="q"/>
            </a:pPr>
            <a:r>
              <a:rPr lang="en-US" dirty="0"/>
              <a:t>Improves responses over time </a:t>
            </a:r>
          </a:p>
          <a:p>
            <a:pPr lvl="1">
              <a:buFont typeface="Wingdings" panose="05000000000000000000" pitchFamily="2" charset="2"/>
              <a:buChar char="q"/>
            </a:pPr>
            <a:r>
              <a:rPr lang="en-US" dirty="0"/>
              <a:t>Learns from previous conversations</a:t>
            </a:r>
          </a:p>
          <a:p>
            <a:r>
              <a:rPr lang="en-IN" b="1" dirty="0"/>
              <a:t>LLMs / Transformers</a:t>
            </a:r>
          </a:p>
          <a:p>
            <a:pPr lvl="1">
              <a:buFont typeface="Wingdings" panose="05000000000000000000" pitchFamily="2" charset="2"/>
              <a:buChar char="q"/>
            </a:pPr>
            <a:r>
              <a:rPr lang="en-IN" dirty="0"/>
              <a:t>Models like GPT for intelligent conversation</a:t>
            </a:r>
          </a:p>
          <a:p>
            <a:pPr lvl="1">
              <a:buFont typeface="Wingdings" panose="05000000000000000000" pitchFamily="2" charset="2"/>
              <a:buChar char="q"/>
            </a:pPr>
            <a:r>
              <a:rPr lang="en-IN" dirty="0"/>
              <a:t>Context-aware replies</a:t>
            </a:r>
          </a:p>
          <a:p>
            <a:endParaRPr lang="en-IN" dirty="0"/>
          </a:p>
        </p:txBody>
      </p:sp>
      <p:sp>
        <p:nvSpPr>
          <p:cNvPr id="4" name="Rectangle 1">
            <a:extLst>
              <a:ext uri="{FF2B5EF4-FFF2-40B4-BE49-F238E27FC236}">
                <a16:creationId xmlns:a16="http://schemas.microsoft.com/office/drawing/2014/main" id="{3AF7709E-5839-7EF2-BCF7-14B3E7A7E484}"/>
              </a:ext>
            </a:extLst>
          </p:cNvPr>
          <p:cNvSpPr>
            <a:spLocks noChangeArrowheads="1"/>
          </p:cNvSpPr>
          <p:nvPr/>
        </p:nvSpPr>
        <p:spPr bwMode="auto">
          <a:xfrm>
            <a:off x="0" y="-323166"/>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460466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D80B0-B909-28E8-3B2D-8A90C07E924B}"/>
              </a:ext>
            </a:extLst>
          </p:cNvPr>
          <p:cNvSpPr>
            <a:spLocks noGrp="1"/>
          </p:cNvSpPr>
          <p:nvPr>
            <p:ph type="title"/>
          </p:nvPr>
        </p:nvSpPr>
        <p:spPr/>
        <p:txBody>
          <a:bodyPr/>
          <a:lstStyle/>
          <a:p>
            <a:r>
              <a:rPr lang="en-IN" dirty="0"/>
              <a:t>Real-World Example</a:t>
            </a:r>
          </a:p>
        </p:txBody>
      </p:sp>
      <p:sp>
        <p:nvSpPr>
          <p:cNvPr id="3" name="Content Placeholder 2">
            <a:extLst>
              <a:ext uri="{FF2B5EF4-FFF2-40B4-BE49-F238E27FC236}">
                <a16:creationId xmlns:a16="http://schemas.microsoft.com/office/drawing/2014/main" id="{9EE9D5E4-0D45-934C-0EE7-571D93C105D4}"/>
              </a:ext>
            </a:extLst>
          </p:cNvPr>
          <p:cNvSpPr>
            <a:spLocks noGrp="1"/>
          </p:cNvSpPr>
          <p:nvPr>
            <p:ph idx="1"/>
          </p:nvPr>
        </p:nvSpPr>
        <p:spPr/>
        <p:txBody>
          <a:bodyPr/>
          <a:lstStyle/>
          <a:p>
            <a:r>
              <a:rPr lang="en-US" dirty="0"/>
              <a:t>Employee: “How many leaves do I have?”</a:t>
            </a:r>
            <a:br>
              <a:rPr lang="en-US" dirty="0"/>
            </a:br>
            <a:r>
              <a:rPr lang="en-US" dirty="0"/>
              <a:t>Chatbot: “You have 5 remaining leaves this month.”</a:t>
            </a:r>
            <a:endParaRPr lang="en-IN" dirty="0"/>
          </a:p>
        </p:txBody>
      </p:sp>
    </p:spTree>
    <p:extLst>
      <p:ext uri="{BB962C8B-B14F-4D97-AF65-F5344CB8AC3E}">
        <p14:creationId xmlns:p14="http://schemas.microsoft.com/office/powerpoint/2010/main" val="40404374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3B25E-A432-2B1F-43CD-B7E051DD342D}"/>
              </a:ext>
            </a:extLst>
          </p:cNvPr>
          <p:cNvSpPr>
            <a:spLocks noGrp="1"/>
          </p:cNvSpPr>
          <p:nvPr>
            <p:ph type="title"/>
          </p:nvPr>
        </p:nvSpPr>
        <p:spPr>
          <a:xfrm>
            <a:off x="643467" y="816638"/>
            <a:ext cx="3367359" cy="5224724"/>
          </a:xfrm>
        </p:spPr>
        <p:txBody>
          <a:bodyPr anchor="ctr">
            <a:normAutofit/>
          </a:bodyPr>
          <a:lstStyle/>
          <a:p>
            <a:r>
              <a:rPr lang="en-IN" dirty="0"/>
              <a:t>05. Performance Tracking &amp; Analytics</a:t>
            </a:r>
          </a:p>
        </p:txBody>
      </p:sp>
      <p:sp>
        <p:nvSpPr>
          <p:cNvPr id="3" name="Content Placeholder 2">
            <a:extLst>
              <a:ext uri="{FF2B5EF4-FFF2-40B4-BE49-F238E27FC236}">
                <a16:creationId xmlns:a16="http://schemas.microsoft.com/office/drawing/2014/main" id="{C96F736E-1B3D-5196-EC1F-9CA4A5D4896B}"/>
              </a:ext>
            </a:extLst>
          </p:cNvPr>
          <p:cNvSpPr>
            <a:spLocks noGrp="1"/>
          </p:cNvSpPr>
          <p:nvPr>
            <p:ph idx="1"/>
          </p:nvPr>
        </p:nvSpPr>
        <p:spPr>
          <a:xfrm>
            <a:off x="4654295" y="816638"/>
            <a:ext cx="4619706" cy="5224724"/>
          </a:xfrm>
        </p:spPr>
        <p:txBody>
          <a:bodyPr anchor="ctr">
            <a:normAutofit/>
          </a:bodyPr>
          <a:lstStyle/>
          <a:p>
            <a:r>
              <a:rPr lang="en-US" dirty="0"/>
              <a:t>AI analyzes: </a:t>
            </a:r>
          </a:p>
          <a:p>
            <a:pPr lvl="1"/>
            <a:r>
              <a:rPr lang="en-US" dirty="0"/>
              <a:t>Productivity </a:t>
            </a:r>
          </a:p>
          <a:p>
            <a:pPr lvl="1"/>
            <a:r>
              <a:rPr lang="en-US" dirty="0"/>
              <a:t>Work patterns </a:t>
            </a:r>
          </a:p>
          <a:p>
            <a:r>
              <a:rPr lang="en-US" dirty="0"/>
              <a:t>Predicts: </a:t>
            </a:r>
          </a:p>
          <a:p>
            <a:pPr lvl="1"/>
            <a:r>
              <a:rPr lang="en-US" dirty="0"/>
              <a:t>Promotions </a:t>
            </a:r>
          </a:p>
          <a:p>
            <a:r>
              <a:rPr lang="en-US" dirty="0"/>
              <a:t>Tech:</a:t>
            </a:r>
          </a:p>
          <a:p>
            <a:pPr lvl="1">
              <a:buFont typeface="Wingdings" panose="05000000000000000000" pitchFamily="2" charset="2"/>
              <a:buChar char="q"/>
            </a:pPr>
            <a:r>
              <a:rPr lang="en-US" dirty="0"/>
              <a:t>Machine Learning + Data Analytics </a:t>
            </a:r>
          </a:p>
          <a:p>
            <a:endParaRPr lang="en-IN" dirty="0"/>
          </a:p>
        </p:txBody>
      </p:sp>
    </p:spTree>
    <p:extLst>
      <p:ext uri="{BB962C8B-B14F-4D97-AF65-F5344CB8AC3E}">
        <p14:creationId xmlns:p14="http://schemas.microsoft.com/office/powerpoint/2010/main" val="2135371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ADCB-E527-5B09-C261-4D326D98CE7B}"/>
              </a:ext>
            </a:extLst>
          </p:cNvPr>
          <p:cNvSpPr>
            <a:spLocks noGrp="1"/>
          </p:cNvSpPr>
          <p:nvPr>
            <p:ph type="title"/>
          </p:nvPr>
        </p:nvSpPr>
        <p:spPr/>
        <p:txBody>
          <a:bodyPr/>
          <a:lstStyle/>
          <a:p>
            <a:r>
              <a:rPr lang="en-IN" dirty="0"/>
              <a:t>What is Performance Tracking?</a:t>
            </a:r>
          </a:p>
        </p:txBody>
      </p:sp>
      <p:sp>
        <p:nvSpPr>
          <p:cNvPr id="3" name="Content Placeholder 2">
            <a:extLst>
              <a:ext uri="{FF2B5EF4-FFF2-40B4-BE49-F238E27FC236}">
                <a16:creationId xmlns:a16="http://schemas.microsoft.com/office/drawing/2014/main" id="{ABD9B5F3-511B-0FB9-A579-8619AA5A29FF}"/>
              </a:ext>
            </a:extLst>
          </p:cNvPr>
          <p:cNvSpPr>
            <a:spLocks noGrp="1"/>
          </p:cNvSpPr>
          <p:nvPr>
            <p:ph idx="1"/>
          </p:nvPr>
        </p:nvSpPr>
        <p:spPr/>
        <p:txBody>
          <a:bodyPr/>
          <a:lstStyle/>
          <a:p>
            <a:r>
              <a:rPr lang="en-US" dirty="0"/>
              <a:t>Performance tracking is the process of monitoring and evaluating employee work, productivity, and behavior over time using data.</a:t>
            </a:r>
          </a:p>
          <a:p>
            <a:pPr marL="0" indent="0">
              <a:buNone/>
            </a:pPr>
            <a:r>
              <a:rPr lang="en-US" dirty="0"/>
              <a:t>It answers:</a:t>
            </a:r>
          </a:p>
          <a:p>
            <a:pPr lvl="1"/>
            <a:r>
              <a:rPr lang="en-US" dirty="0"/>
              <a:t>How well is an employee performing? </a:t>
            </a:r>
          </a:p>
          <a:p>
            <a:pPr lvl="1"/>
            <a:r>
              <a:rPr lang="en-US" dirty="0"/>
              <a:t>Are goals being achieved? </a:t>
            </a:r>
          </a:p>
          <a:p>
            <a:pPr lvl="1"/>
            <a:r>
              <a:rPr lang="en-US" dirty="0"/>
              <a:t>Who needs improvement or promotion?</a:t>
            </a:r>
          </a:p>
          <a:p>
            <a:pPr lvl="1"/>
            <a:endParaRPr lang="en-IN" dirty="0"/>
          </a:p>
        </p:txBody>
      </p:sp>
    </p:spTree>
    <p:extLst>
      <p:ext uri="{BB962C8B-B14F-4D97-AF65-F5344CB8AC3E}">
        <p14:creationId xmlns:p14="http://schemas.microsoft.com/office/powerpoint/2010/main" val="2020144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E7B36-20DE-564D-3F33-0475B1D7183A}"/>
              </a:ext>
            </a:extLst>
          </p:cNvPr>
          <p:cNvSpPr>
            <a:spLocks noGrp="1"/>
          </p:cNvSpPr>
          <p:nvPr>
            <p:ph type="title"/>
          </p:nvPr>
        </p:nvSpPr>
        <p:spPr/>
        <p:txBody>
          <a:bodyPr/>
          <a:lstStyle/>
          <a:p>
            <a:r>
              <a:rPr lang="en-IN" dirty="0"/>
              <a:t>What is HR Analytics?</a:t>
            </a:r>
          </a:p>
        </p:txBody>
      </p:sp>
      <p:sp>
        <p:nvSpPr>
          <p:cNvPr id="3" name="Content Placeholder 2">
            <a:extLst>
              <a:ext uri="{FF2B5EF4-FFF2-40B4-BE49-F238E27FC236}">
                <a16:creationId xmlns:a16="http://schemas.microsoft.com/office/drawing/2014/main" id="{F097AFD3-848B-71C3-EE9B-620AD4C5834B}"/>
              </a:ext>
            </a:extLst>
          </p:cNvPr>
          <p:cNvSpPr>
            <a:spLocks noGrp="1"/>
          </p:cNvSpPr>
          <p:nvPr>
            <p:ph idx="1"/>
          </p:nvPr>
        </p:nvSpPr>
        <p:spPr/>
        <p:txBody>
          <a:bodyPr/>
          <a:lstStyle/>
          <a:p>
            <a:r>
              <a:rPr lang="en-US" dirty="0"/>
              <a:t>HR Analytics means using data, statistics, and machine learning to analyze employee performance and make data-driven decisions.\</a:t>
            </a:r>
          </a:p>
          <a:p>
            <a:endParaRPr lang="en-IN" dirty="0"/>
          </a:p>
        </p:txBody>
      </p:sp>
    </p:spTree>
    <p:extLst>
      <p:ext uri="{BB962C8B-B14F-4D97-AF65-F5344CB8AC3E}">
        <p14:creationId xmlns:p14="http://schemas.microsoft.com/office/powerpoint/2010/main" val="1142922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267A-4B1E-F722-5B51-637C3088FD0B}"/>
              </a:ext>
            </a:extLst>
          </p:cNvPr>
          <p:cNvSpPr>
            <a:spLocks noGrp="1"/>
          </p:cNvSpPr>
          <p:nvPr>
            <p:ph type="title"/>
          </p:nvPr>
        </p:nvSpPr>
        <p:spPr/>
        <p:txBody>
          <a:bodyPr/>
          <a:lstStyle/>
          <a:p>
            <a:r>
              <a:rPr lang="en-IN" dirty="0"/>
              <a:t>Key Components</a:t>
            </a:r>
          </a:p>
        </p:txBody>
      </p:sp>
      <p:sp>
        <p:nvSpPr>
          <p:cNvPr id="3" name="Content Placeholder 2">
            <a:extLst>
              <a:ext uri="{FF2B5EF4-FFF2-40B4-BE49-F238E27FC236}">
                <a16:creationId xmlns:a16="http://schemas.microsoft.com/office/drawing/2014/main" id="{4CD50E29-477F-63B0-ABF7-63F35A4A8A90}"/>
              </a:ext>
            </a:extLst>
          </p:cNvPr>
          <p:cNvSpPr>
            <a:spLocks noGrp="1"/>
          </p:cNvSpPr>
          <p:nvPr>
            <p:ph idx="1"/>
          </p:nvPr>
        </p:nvSpPr>
        <p:spPr/>
        <p:txBody>
          <a:bodyPr>
            <a:normAutofit/>
          </a:bodyPr>
          <a:lstStyle/>
          <a:p>
            <a:r>
              <a:rPr lang="en-US" b="1" dirty="0"/>
              <a:t>1. KPI (Key Performance Indicators)</a:t>
            </a:r>
          </a:p>
          <a:p>
            <a:pPr marL="857250" lvl="1" indent="-400050">
              <a:buFont typeface="+mj-lt"/>
              <a:buAutoNum type="romanLcPeriod"/>
            </a:pPr>
            <a:r>
              <a:rPr lang="en-US" dirty="0"/>
              <a:t>Sales targets </a:t>
            </a:r>
          </a:p>
          <a:p>
            <a:pPr marL="857250" lvl="1" indent="-400050">
              <a:buFont typeface="+mj-lt"/>
              <a:buAutoNum type="romanLcPeriod"/>
            </a:pPr>
            <a:r>
              <a:rPr lang="en-US" dirty="0"/>
              <a:t>Task completion rate </a:t>
            </a:r>
          </a:p>
          <a:p>
            <a:pPr marL="857250" lvl="1" indent="-400050">
              <a:buFont typeface="+mj-lt"/>
              <a:buAutoNum type="romanLcPeriod"/>
            </a:pPr>
            <a:r>
              <a:rPr lang="en-US" dirty="0"/>
              <a:t>Attendance &amp; punctuality </a:t>
            </a:r>
          </a:p>
          <a:p>
            <a:pPr marL="857250" lvl="1" indent="-400050">
              <a:buFont typeface="+mj-lt"/>
              <a:buAutoNum type="romanLcPeriod"/>
            </a:pPr>
            <a:r>
              <a:rPr lang="en-US" dirty="0"/>
              <a:t>Quality of work </a:t>
            </a:r>
          </a:p>
          <a:p>
            <a:pPr marL="57150" indent="0">
              <a:buNone/>
            </a:pPr>
            <a:r>
              <a:rPr lang="en-US" dirty="0"/>
              <a:t>Example: Sales employee target = ₹1 lakh/month</a:t>
            </a:r>
          </a:p>
          <a:p>
            <a:r>
              <a:rPr lang="en-US" b="1" dirty="0"/>
              <a:t>2. Continuous Monitoring</a:t>
            </a:r>
          </a:p>
          <a:p>
            <a:pPr marL="857250" lvl="1" indent="-400050">
              <a:buFont typeface="+mj-lt"/>
              <a:buAutoNum type="romanLcPeriod"/>
            </a:pPr>
            <a:r>
              <a:rPr lang="en-US" dirty="0"/>
              <a:t>Daily/weekly performance tracking </a:t>
            </a:r>
          </a:p>
          <a:p>
            <a:pPr marL="857250" lvl="1" indent="-400050">
              <a:buFont typeface="+mj-lt"/>
              <a:buAutoNum type="romanLcPeriod"/>
            </a:pPr>
            <a:r>
              <a:rPr lang="en-US" dirty="0"/>
              <a:t>Real-time dashboards </a:t>
            </a:r>
          </a:p>
          <a:p>
            <a:pPr marL="857250" lvl="1" indent="-400050">
              <a:buFont typeface="+mj-lt"/>
              <a:buAutoNum type="romanLcPeriod"/>
            </a:pPr>
            <a:r>
              <a:rPr lang="en-US" dirty="0"/>
              <a:t>Automated reports</a:t>
            </a:r>
          </a:p>
          <a:p>
            <a:pPr marL="857250" lvl="1" indent="-400050">
              <a:buFont typeface="+mj-lt"/>
              <a:buAutoNum type="romanLcPeriod"/>
            </a:pPr>
            <a:endParaRPr lang="en-US" dirty="0"/>
          </a:p>
          <a:p>
            <a:endParaRPr lang="en-IN" dirty="0"/>
          </a:p>
        </p:txBody>
      </p:sp>
    </p:spTree>
    <p:extLst>
      <p:ext uri="{BB962C8B-B14F-4D97-AF65-F5344CB8AC3E}">
        <p14:creationId xmlns:p14="http://schemas.microsoft.com/office/powerpoint/2010/main" val="1982462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0C7C-E812-2A50-0DD3-23AFC9FD9BD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7E4AE51-3CA9-F3BD-6150-A2806B097A63}"/>
              </a:ext>
            </a:extLst>
          </p:cNvPr>
          <p:cNvSpPr>
            <a:spLocks noGrp="1"/>
          </p:cNvSpPr>
          <p:nvPr>
            <p:ph idx="1"/>
          </p:nvPr>
        </p:nvSpPr>
        <p:spPr/>
        <p:txBody>
          <a:bodyPr/>
          <a:lstStyle/>
          <a:p>
            <a:r>
              <a:rPr lang="en-US" b="1" dirty="0"/>
              <a:t>3. Performance Reviews</a:t>
            </a:r>
          </a:p>
          <a:p>
            <a:pPr marL="857250" lvl="1" indent="-400050">
              <a:buFont typeface="+mj-lt"/>
              <a:buAutoNum type="romanLcPeriod"/>
            </a:pPr>
            <a:r>
              <a:rPr lang="en-US" dirty="0"/>
              <a:t>Quarterly / annual reviews </a:t>
            </a:r>
          </a:p>
          <a:p>
            <a:pPr marL="857250" lvl="1" indent="-400050">
              <a:buFont typeface="+mj-lt"/>
              <a:buAutoNum type="romanLcPeriod"/>
            </a:pPr>
            <a:r>
              <a:rPr lang="en-US" dirty="0"/>
              <a:t>360-degree feedback (manager + peers) </a:t>
            </a:r>
          </a:p>
          <a:p>
            <a:pPr marL="857250" lvl="1" indent="-400050">
              <a:buFont typeface="+mj-lt"/>
              <a:buAutoNum type="romanLcPeriod"/>
            </a:pPr>
            <a:r>
              <a:rPr lang="en-US" dirty="0"/>
              <a:t>Self-assessment</a:t>
            </a:r>
          </a:p>
          <a:p>
            <a:endParaRPr lang="en-IN" dirty="0"/>
          </a:p>
        </p:txBody>
      </p:sp>
    </p:spTree>
    <p:extLst>
      <p:ext uri="{BB962C8B-B14F-4D97-AF65-F5344CB8AC3E}">
        <p14:creationId xmlns:p14="http://schemas.microsoft.com/office/powerpoint/2010/main" val="2022637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2C01-751E-503A-D7E6-E90D96BF0168}"/>
              </a:ext>
            </a:extLst>
          </p:cNvPr>
          <p:cNvSpPr>
            <a:spLocks noGrp="1"/>
          </p:cNvSpPr>
          <p:nvPr>
            <p:ph type="title"/>
          </p:nvPr>
        </p:nvSpPr>
        <p:spPr/>
        <p:txBody>
          <a:bodyPr/>
          <a:lstStyle/>
          <a:p>
            <a:r>
              <a:rPr lang="en-IN" dirty="0"/>
              <a:t>Technologies Used</a:t>
            </a:r>
          </a:p>
        </p:txBody>
      </p:sp>
      <p:sp>
        <p:nvSpPr>
          <p:cNvPr id="3" name="Content Placeholder 2">
            <a:extLst>
              <a:ext uri="{FF2B5EF4-FFF2-40B4-BE49-F238E27FC236}">
                <a16:creationId xmlns:a16="http://schemas.microsoft.com/office/drawing/2014/main" id="{E9CA78D4-CA29-C72A-2442-8258211CA2B0}"/>
              </a:ext>
            </a:extLst>
          </p:cNvPr>
          <p:cNvSpPr>
            <a:spLocks noGrp="1"/>
          </p:cNvSpPr>
          <p:nvPr>
            <p:ph idx="1"/>
          </p:nvPr>
        </p:nvSpPr>
        <p:spPr/>
        <p:txBody>
          <a:bodyPr/>
          <a:lstStyle/>
          <a:p>
            <a:r>
              <a:rPr lang="en-IN" dirty="0"/>
              <a:t>Machine Learning Models</a:t>
            </a:r>
          </a:p>
          <a:p>
            <a:pPr lvl="1">
              <a:buFont typeface="Wingdings" panose="05000000000000000000" pitchFamily="2" charset="2"/>
              <a:buChar char="q"/>
            </a:pPr>
            <a:r>
              <a:rPr lang="en-IN" dirty="0"/>
              <a:t>Attrition prediction → Logistic Regression, Random Forest</a:t>
            </a:r>
          </a:p>
          <a:p>
            <a:r>
              <a:rPr lang="en-IN" dirty="0"/>
              <a:t>NLP (Natural Language Processing)</a:t>
            </a:r>
          </a:p>
          <a:p>
            <a:pPr lvl="1">
              <a:buFont typeface="Wingdings" panose="05000000000000000000" pitchFamily="2" charset="2"/>
              <a:buChar char="q"/>
            </a:pPr>
            <a:r>
              <a:rPr lang="en-IN" dirty="0" err="1"/>
              <a:t>Analyze</a:t>
            </a:r>
            <a:r>
              <a:rPr lang="en-IN" dirty="0"/>
              <a:t> employee feedback &amp; sentiment</a:t>
            </a:r>
          </a:p>
          <a:p>
            <a:r>
              <a:rPr lang="en-IN" dirty="0"/>
              <a:t>Dashboards &amp; BI Tools</a:t>
            </a:r>
          </a:p>
          <a:p>
            <a:pPr lvl="1">
              <a:buFont typeface="Wingdings" panose="05000000000000000000" pitchFamily="2" charset="2"/>
              <a:buChar char="q"/>
            </a:pPr>
            <a:r>
              <a:rPr lang="en-IN" dirty="0"/>
              <a:t>Power BI, Tableau</a:t>
            </a:r>
          </a:p>
          <a:p>
            <a:r>
              <a:rPr lang="en-IN" dirty="0"/>
              <a:t>Cloud Platforms</a:t>
            </a:r>
          </a:p>
          <a:p>
            <a:pPr lvl="1">
              <a:buFont typeface="Wingdings" panose="05000000000000000000" pitchFamily="2" charset="2"/>
              <a:buChar char="q"/>
            </a:pPr>
            <a:r>
              <a:rPr lang="en-IN" dirty="0"/>
              <a:t>Store employee data securely </a:t>
            </a:r>
          </a:p>
          <a:p>
            <a:endParaRPr lang="en-IN" dirty="0"/>
          </a:p>
        </p:txBody>
      </p:sp>
    </p:spTree>
    <p:extLst>
      <p:ext uri="{BB962C8B-B14F-4D97-AF65-F5344CB8AC3E}">
        <p14:creationId xmlns:p14="http://schemas.microsoft.com/office/powerpoint/2010/main" val="2726298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F058-70AA-353D-5361-53E943A9F1E9}"/>
              </a:ext>
            </a:extLst>
          </p:cNvPr>
          <p:cNvSpPr>
            <a:spLocks noGrp="1"/>
          </p:cNvSpPr>
          <p:nvPr>
            <p:ph type="title"/>
          </p:nvPr>
        </p:nvSpPr>
        <p:spPr/>
        <p:txBody>
          <a:bodyPr/>
          <a:lstStyle/>
          <a:p>
            <a:r>
              <a:rPr lang="en-IN" dirty="0"/>
              <a:t>Real-World Use Cases</a:t>
            </a:r>
          </a:p>
        </p:txBody>
      </p:sp>
      <p:sp>
        <p:nvSpPr>
          <p:cNvPr id="3" name="Content Placeholder 2">
            <a:extLst>
              <a:ext uri="{FF2B5EF4-FFF2-40B4-BE49-F238E27FC236}">
                <a16:creationId xmlns:a16="http://schemas.microsoft.com/office/drawing/2014/main" id="{7C4CE421-51BF-9F3B-A11D-85712C74D289}"/>
              </a:ext>
            </a:extLst>
          </p:cNvPr>
          <p:cNvSpPr>
            <a:spLocks noGrp="1"/>
          </p:cNvSpPr>
          <p:nvPr>
            <p:ph idx="1"/>
          </p:nvPr>
        </p:nvSpPr>
        <p:spPr/>
        <p:txBody>
          <a:bodyPr/>
          <a:lstStyle/>
          <a:p>
            <a:r>
              <a:rPr lang="en-US" b="1" dirty="0"/>
              <a:t>Employee Performance Evaluation</a:t>
            </a:r>
          </a:p>
          <a:p>
            <a:pPr lvl="1">
              <a:buFont typeface="Wingdings" panose="05000000000000000000" pitchFamily="2" charset="2"/>
              <a:buChar char="q"/>
            </a:pPr>
            <a:r>
              <a:rPr lang="en-US" dirty="0"/>
              <a:t>Identify top performers </a:t>
            </a:r>
          </a:p>
          <a:p>
            <a:pPr lvl="1">
              <a:buFont typeface="Wingdings" panose="05000000000000000000" pitchFamily="2" charset="2"/>
              <a:buChar char="q"/>
            </a:pPr>
            <a:r>
              <a:rPr lang="en-US" dirty="0"/>
              <a:t>Detect underperformers </a:t>
            </a:r>
          </a:p>
          <a:p>
            <a:r>
              <a:rPr lang="en-US" b="1" dirty="0"/>
              <a:t>Promotion &amp; Salary Decisions</a:t>
            </a:r>
          </a:p>
          <a:p>
            <a:pPr lvl="1">
              <a:buFont typeface="Wingdings" panose="05000000000000000000" pitchFamily="2" charset="2"/>
              <a:buChar char="q"/>
            </a:pPr>
            <a:r>
              <a:rPr lang="en-US" dirty="0"/>
              <a:t>Data-based promotions instead of bias </a:t>
            </a:r>
          </a:p>
          <a:p>
            <a:r>
              <a:rPr lang="en-US" b="1" dirty="0"/>
              <a:t>Attrition Prediction</a:t>
            </a:r>
          </a:p>
          <a:p>
            <a:pPr lvl="1">
              <a:buFont typeface="Wingdings" panose="05000000000000000000" pitchFamily="2" charset="2"/>
              <a:buChar char="q"/>
            </a:pPr>
            <a:r>
              <a:rPr lang="en-US" dirty="0"/>
              <a:t>Predict which employees may leave </a:t>
            </a:r>
          </a:p>
          <a:p>
            <a:r>
              <a:rPr lang="en-US" b="1" dirty="0"/>
              <a:t>Workforce Planning</a:t>
            </a:r>
          </a:p>
          <a:p>
            <a:pPr marL="685800" lvl="1">
              <a:buFont typeface="Wingdings" panose="05000000000000000000" pitchFamily="2" charset="2"/>
              <a:buChar char="q"/>
            </a:pPr>
            <a:r>
              <a:rPr lang="en-US" dirty="0"/>
              <a:t>Decide hiring needs based on performance trends </a:t>
            </a:r>
          </a:p>
          <a:p>
            <a:endParaRPr lang="en-IN" dirty="0"/>
          </a:p>
        </p:txBody>
      </p:sp>
    </p:spTree>
    <p:extLst>
      <p:ext uri="{BB962C8B-B14F-4D97-AF65-F5344CB8AC3E}">
        <p14:creationId xmlns:p14="http://schemas.microsoft.com/office/powerpoint/2010/main" val="3002099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4B945-7EEF-7800-F92D-DB654F0F7033}"/>
              </a:ext>
            </a:extLst>
          </p:cNvPr>
          <p:cNvSpPr>
            <a:spLocks noGrp="1"/>
          </p:cNvSpPr>
          <p:nvPr>
            <p:ph type="title"/>
          </p:nvPr>
        </p:nvSpPr>
        <p:spPr/>
        <p:txBody>
          <a:bodyPr/>
          <a:lstStyle/>
          <a:p>
            <a:r>
              <a:rPr lang="en-US" dirty="0"/>
              <a:t>06. Payroll and HR Operations Automation</a:t>
            </a:r>
            <a:endParaRPr lang="en-IN" dirty="0"/>
          </a:p>
        </p:txBody>
      </p:sp>
      <p:sp>
        <p:nvSpPr>
          <p:cNvPr id="3" name="Content Placeholder 2">
            <a:extLst>
              <a:ext uri="{FF2B5EF4-FFF2-40B4-BE49-F238E27FC236}">
                <a16:creationId xmlns:a16="http://schemas.microsoft.com/office/drawing/2014/main" id="{DE46276B-7112-FE6A-2BD8-AAB68816CE89}"/>
              </a:ext>
            </a:extLst>
          </p:cNvPr>
          <p:cNvSpPr>
            <a:spLocks noGrp="1"/>
          </p:cNvSpPr>
          <p:nvPr>
            <p:ph idx="1"/>
          </p:nvPr>
        </p:nvSpPr>
        <p:spPr/>
        <p:txBody>
          <a:bodyPr/>
          <a:lstStyle/>
          <a:p>
            <a:r>
              <a:rPr lang="en-US" dirty="0"/>
              <a:t>Payroll and HR Operations Automation means using software and AI tools to automatically handle HR tasks like:</a:t>
            </a:r>
          </a:p>
          <a:p>
            <a:pPr lvl="1">
              <a:buFont typeface="Wingdings" panose="05000000000000000000" pitchFamily="2" charset="2"/>
              <a:buChar char="q"/>
            </a:pPr>
            <a:r>
              <a:rPr lang="en-US" dirty="0"/>
              <a:t>Salary calculation </a:t>
            </a:r>
          </a:p>
          <a:p>
            <a:pPr lvl="1">
              <a:buFont typeface="Wingdings" panose="05000000000000000000" pitchFamily="2" charset="2"/>
              <a:buChar char="q"/>
            </a:pPr>
            <a:r>
              <a:rPr lang="en-US" dirty="0"/>
              <a:t>Attendance tracking </a:t>
            </a:r>
          </a:p>
          <a:p>
            <a:pPr lvl="1">
              <a:buFont typeface="Wingdings" panose="05000000000000000000" pitchFamily="2" charset="2"/>
              <a:buChar char="q"/>
            </a:pPr>
            <a:r>
              <a:rPr lang="en-US" dirty="0"/>
              <a:t>Leave management </a:t>
            </a:r>
          </a:p>
          <a:p>
            <a:pPr lvl="1">
              <a:buFont typeface="Wingdings" panose="05000000000000000000" pitchFamily="2" charset="2"/>
              <a:buChar char="q"/>
            </a:pPr>
            <a:r>
              <a:rPr lang="en-US" dirty="0"/>
              <a:t>Tax deductions </a:t>
            </a:r>
          </a:p>
          <a:p>
            <a:pPr lvl="1">
              <a:buFont typeface="Wingdings" panose="05000000000000000000" pitchFamily="2" charset="2"/>
              <a:buChar char="q"/>
            </a:pPr>
            <a:r>
              <a:rPr lang="en-US" dirty="0"/>
              <a:t>Employee records</a:t>
            </a:r>
          </a:p>
          <a:p>
            <a:pPr indent="-285750"/>
            <a:r>
              <a:rPr lang="en-US" dirty="0"/>
              <a:t>Instead of manual work (Excel/paper), everything is handled by systems.</a:t>
            </a:r>
          </a:p>
          <a:p>
            <a:endParaRPr lang="en-IN" dirty="0"/>
          </a:p>
        </p:txBody>
      </p:sp>
    </p:spTree>
    <p:extLst>
      <p:ext uri="{BB962C8B-B14F-4D97-AF65-F5344CB8AC3E}">
        <p14:creationId xmlns:p14="http://schemas.microsoft.com/office/powerpoint/2010/main" val="38475552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8FD84-F249-B050-9198-A7F76B359653}"/>
              </a:ext>
            </a:extLst>
          </p:cNvPr>
          <p:cNvSpPr>
            <a:spLocks noGrp="1"/>
          </p:cNvSpPr>
          <p:nvPr>
            <p:ph type="title"/>
          </p:nvPr>
        </p:nvSpPr>
        <p:spPr/>
        <p:txBody>
          <a:bodyPr/>
          <a:lstStyle/>
          <a:p>
            <a:r>
              <a:rPr lang="en-US" dirty="0"/>
              <a:t>Key Components</a:t>
            </a:r>
            <a:endParaRPr lang="en-IN" dirty="0"/>
          </a:p>
        </p:txBody>
      </p:sp>
      <p:sp>
        <p:nvSpPr>
          <p:cNvPr id="3" name="Content Placeholder 2">
            <a:extLst>
              <a:ext uri="{FF2B5EF4-FFF2-40B4-BE49-F238E27FC236}">
                <a16:creationId xmlns:a16="http://schemas.microsoft.com/office/drawing/2014/main" id="{AF9A25DC-0774-AAD8-33A9-9054D259745B}"/>
              </a:ext>
            </a:extLst>
          </p:cNvPr>
          <p:cNvSpPr>
            <a:spLocks noGrp="1"/>
          </p:cNvSpPr>
          <p:nvPr>
            <p:ph idx="1"/>
          </p:nvPr>
        </p:nvSpPr>
        <p:spPr/>
        <p:txBody>
          <a:bodyPr/>
          <a:lstStyle/>
          <a:p>
            <a:pPr marL="0" indent="0">
              <a:buNone/>
            </a:pPr>
            <a:r>
              <a:rPr lang="en-US" b="1" dirty="0"/>
              <a:t>1. Payroll Automation</a:t>
            </a:r>
          </a:p>
          <a:p>
            <a:pPr marL="857250" lvl="1" indent="-400050">
              <a:buFont typeface="+mj-lt"/>
              <a:buAutoNum type="romanLcPeriod"/>
            </a:pPr>
            <a:r>
              <a:rPr lang="en-US" dirty="0"/>
              <a:t>Automatic salary calculation </a:t>
            </a:r>
          </a:p>
          <a:p>
            <a:pPr marL="857250" lvl="1" indent="-400050">
              <a:buFont typeface="+mj-lt"/>
              <a:buAutoNum type="romanLcPeriod"/>
            </a:pPr>
            <a:r>
              <a:rPr lang="en-US" dirty="0"/>
              <a:t>Tax (TDS/PF/ESI) deduction </a:t>
            </a:r>
          </a:p>
          <a:p>
            <a:pPr marL="857250" lvl="1" indent="-400050">
              <a:buFont typeface="+mj-lt"/>
              <a:buAutoNum type="romanLcPeriod"/>
            </a:pPr>
            <a:r>
              <a:rPr lang="en-US" dirty="0" err="1"/>
              <a:t>Payslip</a:t>
            </a:r>
            <a:r>
              <a:rPr lang="en-US" dirty="0"/>
              <a:t> generation </a:t>
            </a:r>
          </a:p>
          <a:p>
            <a:pPr marL="857250" lvl="1" indent="-400050">
              <a:buFont typeface="+mj-lt"/>
              <a:buAutoNum type="romanLcPeriod"/>
            </a:pPr>
            <a:r>
              <a:rPr lang="en-US" dirty="0"/>
              <a:t>Direct bank transfer </a:t>
            </a:r>
          </a:p>
          <a:p>
            <a:pPr marL="457200" lvl="1" indent="0">
              <a:buNone/>
            </a:pPr>
            <a:r>
              <a:rPr lang="en-US" dirty="0"/>
              <a:t>Example: If an employee works 26 days → system calculates salary automatically</a:t>
            </a:r>
          </a:p>
          <a:p>
            <a:endParaRPr lang="en-IN" dirty="0"/>
          </a:p>
        </p:txBody>
      </p:sp>
    </p:spTree>
    <p:extLst>
      <p:ext uri="{BB962C8B-B14F-4D97-AF65-F5344CB8AC3E}">
        <p14:creationId xmlns:p14="http://schemas.microsoft.com/office/powerpoint/2010/main" val="495722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E0FF-03E0-E1F3-DCF2-7344692A99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5B4BA0-25F5-819A-0792-58ABCC9B7DEA}"/>
              </a:ext>
            </a:extLst>
          </p:cNvPr>
          <p:cNvSpPr>
            <a:spLocks noGrp="1"/>
          </p:cNvSpPr>
          <p:nvPr>
            <p:ph idx="1"/>
          </p:nvPr>
        </p:nvSpPr>
        <p:spPr/>
        <p:txBody>
          <a:bodyPr/>
          <a:lstStyle/>
          <a:p>
            <a:pPr marL="0" indent="0">
              <a:buNone/>
            </a:pPr>
            <a:r>
              <a:rPr lang="en-US" b="1" dirty="0"/>
              <a:t>2. HR Operations Automation</a:t>
            </a:r>
          </a:p>
          <a:p>
            <a:pPr marL="857250" lvl="1" indent="-400050">
              <a:buFont typeface="+mj-lt"/>
              <a:buAutoNum type="romanLcPeriod"/>
            </a:pPr>
            <a:r>
              <a:rPr lang="en-US" dirty="0"/>
              <a:t>Attendance tracking (biometric/face recognition) </a:t>
            </a:r>
          </a:p>
          <a:p>
            <a:pPr marL="857250" lvl="1" indent="-400050">
              <a:buFont typeface="+mj-lt"/>
              <a:buAutoNum type="romanLcPeriod"/>
            </a:pPr>
            <a:r>
              <a:rPr lang="en-US" dirty="0"/>
              <a:t>Leave approval workflows </a:t>
            </a:r>
          </a:p>
          <a:p>
            <a:pPr marL="857250" lvl="1" indent="-400050">
              <a:buFont typeface="+mj-lt"/>
              <a:buAutoNum type="romanLcPeriod"/>
            </a:pPr>
            <a:r>
              <a:rPr lang="en-US" dirty="0"/>
              <a:t>Employee onboarding/offboarding </a:t>
            </a:r>
          </a:p>
          <a:p>
            <a:pPr marL="857250" lvl="1" indent="-400050">
              <a:buFont typeface="+mj-lt"/>
              <a:buAutoNum type="romanLcPeriod"/>
            </a:pPr>
            <a:r>
              <a:rPr lang="en-US" dirty="0"/>
              <a:t>Performance tracking </a:t>
            </a:r>
          </a:p>
          <a:p>
            <a:endParaRPr lang="en-IN" dirty="0"/>
          </a:p>
        </p:txBody>
      </p:sp>
    </p:spTree>
    <p:extLst>
      <p:ext uri="{BB962C8B-B14F-4D97-AF65-F5344CB8AC3E}">
        <p14:creationId xmlns:p14="http://schemas.microsoft.com/office/powerpoint/2010/main" val="3606212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E7EC6-C97B-3CBF-9345-D2BCB9C6BC3F}"/>
              </a:ext>
            </a:extLst>
          </p:cNvPr>
          <p:cNvSpPr>
            <a:spLocks noGrp="1"/>
          </p:cNvSpPr>
          <p:nvPr>
            <p:ph type="title"/>
          </p:nvPr>
        </p:nvSpPr>
        <p:spPr/>
        <p:txBody>
          <a:bodyPr/>
          <a:lstStyle/>
          <a:p>
            <a:r>
              <a:rPr lang="en-IN" dirty="0"/>
              <a:t>Technologies Used</a:t>
            </a:r>
          </a:p>
        </p:txBody>
      </p:sp>
      <p:sp>
        <p:nvSpPr>
          <p:cNvPr id="3" name="Content Placeholder 2">
            <a:extLst>
              <a:ext uri="{FF2B5EF4-FFF2-40B4-BE49-F238E27FC236}">
                <a16:creationId xmlns:a16="http://schemas.microsoft.com/office/drawing/2014/main" id="{9A106EBF-7AD8-C853-F649-443E62CB5D9D}"/>
              </a:ext>
            </a:extLst>
          </p:cNvPr>
          <p:cNvSpPr>
            <a:spLocks noGrp="1"/>
          </p:cNvSpPr>
          <p:nvPr>
            <p:ph idx="1"/>
          </p:nvPr>
        </p:nvSpPr>
        <p:spPr>
          <a:pattFill prst="pct5">
            <a:fgClr>
              <a:schemeClr val="accent1"/>
            </a:fgClr>
            <a:bgClr>
              <a:schemeClr val="bg1"/>
            </a:bgClr>
          </a:pattFill>
        </p:spPr>
        <p:txBody>
          <a:bodyPr/>
          <a:lstStyle/>
          <a:p>
            <a:r>
              <a:rPr lang="en-IN" b="1" dirty="0"/>
              <a:t>Machine Learning</a:t>
            </a:r>
            <a:r>
              <a:rPr lang="en-IN" dirty="0"/>
              <a:t> → Predict attrition, salary trends </a:t>
            </a:r>
          </a:p>
          <a:p>
            <a:r>
              <a:rPr lang="en-IN" b="1" dirty="0"/>
              <a:t>Computer Vision</a:t>
            </a:r>
            <a:r>
              <a:rPr lang="en-IN" dirty="0"/>
              <a:t> → Face recognition attendance </a:t>
            </a:r>
          </a:p>
          <a:p>
            <a:r>
              <a:rPr lang="en-IN" b="1" dirty="0"/>
              <a:t>NLP</a:t>
            </a:r>
            <a:r>
              <a:rPr lang="en-IN" dirty="0"/>
              <a:t> → HR chatbots </a:t>
            </a:r>
          </a:p>
          <a:p>
            <a:r>
              <a:rPr lang="en-IN" b="1" dirty="0"/>
              <a:t>Cloud Computing</a:t>
            </a:r>
            <a:r>
              <a:rPr lang="en-IN" dirty="0"/>
              <a:t> → Store &amp; manage employee data </a:t>
            </a:r>
          </a:p>
          <a:p>
            <a:endParaRPr lang="en-IN" dirty="0"/>
          </a:p>
        </p:txBody>
      </p:sp>
    </p:spTree>
    <p:extLst>
      <p:ext uri="{BB962C8B-B14F-4D97-AF65-F5344CB8AC3E}">
        <p14:creationId xmlns:p14="http://schemas.microsoft.com/office/powerpoint/2010/main" val="2796074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7DC05-4709-743D-6C97-624C01D42AAA}"/>
              </a:ext>
            </a:extLst>
          </p:cNvPr>
          <p:cNvSpPr>
            <a:spLocks noGrp="1"/>
          </p:cNvSpPr>
          <p:nvPr>
            <p:ph type="title"/>
          </p:nvPr>
        </p:nvSpPr>
        <p:spPr>
          <a:xfrm>
            <a:off x="643467" y="816638"/>
            <a:ext cx="3367359" cy="5224724"/>
          </a:xfrm>
        </p:spPr>
        <p:txBody>
          <a:bodyPr anchor="ctr">
            <a:normAutofit/>
          </a:bodyPr>
          <a:lstStyle/>
          <a:p>
            <a:r>
              <a:rPr lang="en-IN" dirty="0"/>
              <a:t>07. Employee Engagement &amp; Feedback</a:t>
            </a:r>
          </a:p>
        </p:txBody>
      </p:sp>
      <p:sp>
        <p:nvSpPr>
          <p:cNvPr id="3" name="Content Placeholder 2">
            <a:extLst>
              <a:ext uri="{FF2B5EF4-FFF2-40B4-BE49-F238E27FC236}">
                <a16:creationId xmlns:a16="http://schemas.microsoft.com/office/drawing/2014/main" id="{75EF546B-6CA6-8620-2EA0-6192372185D6}"/>
              </a:ext>
            </a:extLst>
          </p:cNvPr>
          <p:cNvSpPr>
            <a:spLocks noGrp="1"/>
          </p:cNvSpPr>
          <p:nvPr>
            <p:ph idx="1"/>
          </p:nvPr>
        </p:nvSpPr>
        <p:spPr>
          <a:xfrm>
            <a:off x="4654295" y="816638"/>
            <a:ext cx="4619706" cy="5224724"/>
          </a:xfrm>
        </p:spPr>
        <p:txBody>
          <a:bodyPr anchor="ctr">
            <a:normAutofit/>
          </a:bodyPr>
          <a:lstStyle/>
          <a:p>
            <a:r>
              <a:rPr lang="en-IN" dirty="0"/>
              <a:t>AI </a:t>
            </a:r>
            <a:r>
              <a:rPr lang="en-IN" dirty="0" err="1"/>
              <a:t>analyzes</a:t>
            </a:r>
            <a:r>
              <a:rPr lang="en-IN" dirty="0"/>
              <a:t> feedback using sentiment analysis </a:t>
            </a:r>
          </a:p>
          <a:p>
            <a:r>
              <a:rPr lang="en-IN" dirty="0"/>
              <a:t>Detects unhappy and happy employees</a:t>
            </a:r>
          </a:p>
          <a:p>
            <a:r>
              <a:rPr lang="en-IN" dirty="0"/>
              <a:t>Tech:</a:t>
            </a:r>
          </a:p>
          <a:p>
            <a:pPr lvl="1">
              <a:buFont typeface="Wingdings" panose="05000000000000000000" pitchFamily="2" charset="2"/>
              <a:buChar char="q"/>
            </a:pPr>
            <a:r>
              <a:rPr lang="en-IN" dirty="0"/>
              <a:t>NLP + Sentiment Analysis</a:t>
            </a:r>
          </a:p>
          <a:p>
            <a:endParaRPr lang="en-IN" dirty="0"/>
          </a:p>
        </p:txBody>
      </p:sp>
    </p:spTree>
    <p:extLst>
      <p:ext uri="{BB962C8B-B14F-4D97-AF65-F5344CB8AC3E}">
        <p14:creationId xmlns:p14="http://schemas.microsoft.com/office/powerpoint/2010/main" val="3895354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9FAB6-2604-9F7B-5921-54D0DF04EB93}"/>
              </a:ext>
            </a:extLst>
          </p:cNvPr>
          <p:cNvSpPr>
            <a:spLocks noGrp="1"/>
          </p:cNvSpPr>
          <p:nvPr>
            <p:ph type="title"/>
          </p:nvPr>
        </p:nvSpPr>
        <p:spPr>
          <a:xfrm>
            <a:off x="1507067" y="1578133"/>
            <a:ext cx="4335468" cy="2875534"/>
          </a:xfrm>
        </p:spPr>
        <p:txBody>
          <a:bodyPr vert="horz" lIns="91440" tIns="45720" rIns="91440" bIns="45720" rtlCol="0" anchor="b">
            <a:normAutofit/>
          </a:bodyPr>
          <a:lstStyle/>
          <a:p>
            <a:pPr algn="r">
              <a:lnSpc>
                <a:spcPct val="90000"/>
              </a:lnSpc>
            </a:pPr>
            <a:r>
              <a:rPr lang="en-US" sz="5000" kern="1200" dirty="0">
                <a:solidFill>
                  <a:schemeClr val="accent1"/>
                </a:solidFill>
                <a:latin typeface="+mj-lt"/>
                <a:ea typeface="+mj-ea"/>
                <a:cs typeface="+mj-cs"/>
              </a:rPr>
              <a:t>Example of Employee Engagement &amp; Feedback</a:t>
            </a:r>
          </a:p>
        </p:txBody>
      </p:sp>
      <p:pic>
        <p:nvPicPr>
          <p:cNvPr id="5" name="Content Placeholder 4">
            <a:extLst>
              <a:ext uri="{FF2B5EF4-FFF2-40B4-BE49-F238E27FC236}">
                <a16:creationId xmlns:a16="http://schemas.microsoft.com/office/drawing/2014/main" id="{1CD249D8-E483-D385-341E-45CB9032786A}"/>
              </a:ext>
            </a:extLst>
          </p:cNvPr>
          <p:cNvPicPr>
            <a:picLocks noGrp="1" noChangeAspect="1"/>
          </p:cNvPicPr>
          <p:nvPr>
            <p:ph idx="1"/>
          </p:nvPr>
        </p:nvPicPr>
        <p:blipFill>
          <a:blip r:embed="rId2"/>
          <a:srcRect r="-3" b="17010"/>
          <a:stretch>
            <a:fillRect/>
          </a:stretch>
        </p:blipFill>
        <p:spPr>
          <a:xfrm>
            <a:off x="6095998" y="2096695"/>
            <a:ext cx="3280613" cy="2935308"/>
          </a:xfrm>
          <a:prstGeom prst="rect">
            <a:avLst/>
          </a:prstGeom>
        </p:spPr>
      </p:pic>
    </p:spTree>
    <p:extLst>
      <p:ext uri="{BB962C8B-B14F-4D97-AF65-F5344CB8AC3E}">
        <p14:creationId xmlns:p14="http://schemas.microsoft.com/office/powerpoint/2010/main" val="1499079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38D8-8890-117F-EC0C-AD2A5F91D5C8}"/>
              </a:ext>
            </a:extLst>
          </p:cNvPr>
          <p:cNvSpPr>
            <a:spLocks noGrp="1"/>
          </p:cNvSpPr>
          <p:nvPr>
            <p:ph type="title"/>
          </p:nvPr>
        </p:nvSpPr>
        <p:spPr>
          <a:xfrm>
            <a:off x="643467" y="816638"/>
            <a:ext cx="3367359" cy="5224724"/>
          </a:xfrm>
        </p:spPr>
        <p:txBody>
          <a:bodyPr anchor="ctr">
            <a:normAutofit/>
          </a:bodyPr>
          <a:lstStyle/>
          <a:p>
            <a:r>
              <a:rPr lang="en-US" dirty="0"/>
              <a:t>08. AI Tools Used in HRM</a:t>
            </a:r>
            <a:endParaRPr lang="en-IN" dirty="0"/>
          </a:p>
        </p:txBody>
      </p:sp>
      <p:sp>
        <p:nvSpPr>
          <p:cNvPr id="3" name="Content Placeholder 2">
            <a:extLst>
              <a:ext uri="{FF2B5EF4-FFF2-40B4-BE49-F238E27FC236}">
                <a16:creationId xmlns:a16="http://schemas.microsoft.com/office/drawing/2014/main" id="{E2A4017D-A600-9C3F-6EDB-D8C399BA9D85}"/>
              </a:ext>
            </a:extLst>
          </p:cNvPr>
          <p:cNvSpPr>
            <a:spLocks noGrp="1"/>
          </p:cNvSpPr>
          <p:nvPr>
            <p:ph idx="1"/>
          </p:nvPr>
        </p:nvSpPr>
        <p:spPr>
          <a:xfrm>
            <a:off x="4654295" y="816638"/>
            <a:ext cx="4619706" cy="5224724"/>
          </a:xfrm>
        </p:spPr>
        <p:txBody>
          <a:bodyPr anchor="ctr">
            <a:normAutofit/>
          </a:bodyPr>
          <a:lstStyle/>
          <a:p>
            <a:r>
              <a:rPr lang="en-US" dirty="0"/>
              <a:t>Workday </a:t>
            </a:r>
          </a:p>
          <a:p>
            <a:r>
              <a:rPr lang="en-US" dirty="0"/>
              <a:t>SAP SuccessFactors </a:t>
            </a:r>
          </a:p>
          <a:p>
            <a:r>
              <a:rPr lang="en-US" dirty="0"/>
              <a:t>Zoho People </a:t>
            </a:r>
          </a:p>
          <a:p>
            <a:r>
              <a:rPr lang="en-US" dirty="0"/>
              <a:t>BambooHR </a:t>
            </a:r>
          </a:p>
          <a:p>
            <a:r>
              <a:rPr lang="en-US" dirty="0"/>
              <a:t>Eightfold AI </a:t>
            </a:r>
          </a:p>
          <a:p>
            <a:pPr marL="0" indent="0">
              <a:buNone/>
            </a:pPr>
            <a:r>
              <a:rPr lang="en-US" dirty="0"/>
              <a:t>Example</a:t>
            </a:r>
          </a:p>
          <a:p>
            <a:r>
              <a:rPr lang="en-US" dirty="0"/>
              <a:t>Used by companies for automation and analytics </a:t>
            </a:r>
          </a:p>
          <a:p>
            <a:endParaRPr lang="en-IN" dirty="0"/>
          </a:p>
        </p:txBody>
      </p:sp>
    </p:spTree>
    <p:extLst>
      <p:ext uri="{BB962C8B-B14F-4D97-AF65-F5344CB8AC3E}">
        <p14:creationId xmlns:p14="http://schemas.microsoft.com/office/powerpoint/2010/main" val="3661910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E3543-2926-1E00-B96E-0496B8BE7F82}"/>
              </a:ext>
            </a:extLst>
          </p:cNvPr>
          <p:cNvSpPr>
            <a:spLocks noGrp="1"/>
          </p:cNvSpPr>
          <p:nvPr>
            <p:ph type="title"/>
          </p:nvPr>
        </p:nvSpPr>
        <p:spPr/>
        <p:txBody>
          <a:bodyPr/>
          <a:lstStyle/>
          <a:p>
            <a:r>
              <a:rPr lang="en-US" dirty="0"/>
              <a:t>Workday</a:t>
            </a:r>
            <a:endParaRPr lang="en-IN" dirty="0"/>
          </a:p>
        </p:txBody>
      </p:sp>
      <p:sp>
        <p:nvSpPr>
          <p:cNvPr id="3" name="Content Placeholder 2">
            <a:extLst>
              <a:ext uri="{FF2B5EF4-FFF2-40B4-BE49-F238E27FC236}">
                <a16:creationId xmlns:a16="http://schemas.microsoft.com/office/drawing/2014/main" id="{E2CC12F1-2097-E8EE-2EB9-3B9D52657923}"/>
              </a:ext>
            </a:extLst>
          </p:cNvPr>
          <p:cNvSpPr>
            <a:spLocks noGrp="1"/>
          </p:cNvSpPr>
          <p:nvPr>
            <p:ph idx="1"/>
          </p:nvPr>
        </p:nvSpPr>
        <p:spPr/>
        <p:txBody>
          <a:bodyPr/>
          <a:lstStyle/>
          <a:p>
            <a:r>
              <a:rPr lang="en-US" dirty="0"/>
              <a:t>What it is:</a:t>
            </a:r>
            <a:br>
              <a:rPr lang="en-US" dirty="0"/>
            </a:br>
            <a:r>
              <a:rPr lang="en-US" dirty="0"/>
              <a:t>A cloud-based ERP (Enterprise Resource Planning) system focused on HR, finance, and planning.</a:t>
            </a:r>
          </a:p>
          <a:p>
            <a:r>
              <a:rPr lang="en-US" dirty="0"/>
              <a:t>Key features:</a:t>
            </a:r>
          </a:p>
          <a:p>
            <a:pPr marL="800100" lvl="1" indent="-400050">
              <a:buFont typeface="+mj-lt"/>
              <a:buAutoNum type="romanLcPeriod"/>
            </a:pPr>
            <a:r>
              <a:rPr lang="en-US" dirty="0"/>
              <a:t>Human Capital Management (HCM) </a:t>
            </a:r>
          </a:p>
          <a:p>
            <a:pPr marL="800100" lvl="1" indent="-400050">
              <a:buFont typeface="+mj-lt"/>
              <a:buAutoNum type="romanLcPeriod"/>
            </a:pPr>
            <a:r>
              <a:rPr lang="en-US" dirty="0"/>
              <a:t>Payroll &amp; workforce planning </a:t>
            </a:r>
          </a:p>
          <a:p>
            <a:pPr marL="800100" lvl="1" indent="-400050">
              <a:buFont typeface="+mj-lt"/>
              <a:buAutoNum type="romanLcPeriod"/>
            </a:pPr>
            <a:r>
              <a:rPr lang="en-US" dirty="0"/>
              <a:t>Analytics &amp; reporting </a:t>
            </a:r>
          </a:p>
          <a:p>
            <a:pPr marL="800100" lvl="1" indent="-400050">
              <a:buFont typeface="+mj-lt"/>
              <a:buAutoNum type="romanLcPeriod"/>
            </a:pPr>
            <a:r>
              <a:rPr lang="en-US" dirty="0"/>
              <a:t>Talent management </a:t>
            </a:r>
          </a:p>
          <a:p>
            <a:r>
              <a:rPr lang="en-US" dirty="0"/>
              <a:t>Why companies use it:</a:t>
            </a:r>
            <a:br>
              <a:rPr lang="en-US" dirty="0"/>
            </a:br>
            <a:r>
              <a:rPr lang="en-US" dirty="0"/>
              <a:t>It provides real-time data insights and is widely used by large enterprises.</a:t>
            </a:r>
          </a:p>
          <a:p>
            <a:endParaRPr lang="en-IN" dirty="0"/>
          </a:p>
        </p:txBody>
      </p:sp>
    </p:spTree>
    <p:extLst>
      <p:ext uri="{BB962C8B-B14F-4D97-AF65-F5344CB8AC3E}">
        <p14:creationId xmlns:p14="http://schemas.microsoft.com/office/powerpoint/2010/main" val="3806304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E8050-2856-7459-5828-2FC77D15A409}"/>
              </a:ext>
            </a:extLst>
          </p:cNvPr>
          <p:cNvSpPr>
            <a:spLocks noGrp="1"/>
          </p:cNvSpPr>
          <p:nvPr>
            <p:ph type="title"/>
          </p:nvPr>
        </p:nvSpPr>
        <p:spPr/>
        <p:txBody>
          <a:bodyPr anchor="t">
            <a:normAutofit/>
          </a:bodyPr>
          <a:lstStyle/>
          <a:p>
            <a:r>
              <a:rPr lang="en-US" dirty="0"/>
              <a:t>UI Of Workday</a:t>
            </a:r>
            <a:endParaRPr lang="en-IN" dirty="0"/>
          </a:p>
        </p:txBody>
      </p:sp>
      <p:sp>
        <p:nvSpPr>
          <p:cNvPr id="9" name="Content Placeholder 8">
            <a:extLst>
              <a:ext uri="{FF2B5EF4-FFF2-40B4-BE49-F238E27FC236}">
                <a16:creationId xmlns:a16="http://schemas.microsoft.com/office/drawing/2014/main" id="{12122547-6E32-435E-D384-14B0200FC7F1}"/>
              </a:ext>
            </a:extLst>
          </p:cNvPr>
          <p:cNvSpPr>
            <a:spLocks noGrp="1"/>
          </p:cNvSpPr>
          <p:nvPr>
            <p:ph idx="1"/>
          </p:nvPr>
        </p:nvSpPr>
        <p:spPr>
          <a:xfrm>
            <a:off x="6336287" y="2160589"/>
            <a:ext cx="2934714" cy="3880773"/>
          </a:xfrm>
        </p:spPr>
        <p:txBody>
          <a:bodyPr>
            <a:normAutofit/>
          </a:bodyPr>
          <a:lstStyle/>
          <a:p>
            <a:endParaRPr lang="en-US"/>
          </a:p>
        </p:txBody>
      </p:sp>
      <p:pic>
        <p:nvPicPr>
          <p:cNvPr id="5" name="Content Placeholder 4">
            <a:extLst>
              <a:ext uri="{FF2B5EF4-FFF2-40B4-BE49-F238E27FC236}">
                <a16:creationId xmlns:a16="http://schemas.microsoft.com/office/drawing/2014/main" id="{E3F3CD48-2202-83E0-7F6B-3A54D7153BBD}"/>
              </a:ext>
            </a:extLst>
          </p:cNvPr>
          <p:cNvPicPr>
            <a:picLocks noChangeAspect="1"/>
          </p:cNvPicPr>
          <p:nvPr/>
        </p:nvPicPr>
        <p:blipFill>
          <a:blip r:embed="rId2"/>
          <a:srcRect t="12853" r="3" b="15564"/>
          <a:stretch>
            <a:fillRect/>
          </a:stretch>
        </p:blipFill>
        <p:spPr>
          <a:xfrm>
            <a:off x="677334" y="2159331"/>
            <a:ext cx="5423429" cy="3882362"/>
          </a:xfrm>
          <a:prstGeom prst="rect">
            <a:avLst/>
          </a:prstGeom>
        </p:spPr>
      </p:pic>
    </p:spTree>
    <p:extLst>
      <p:ext uri="{BB962C8B-B14F-4D97-AF65-F5344CB8AC3E}">
        <p14:creationId xmlns:p14="http://schemas.microsoft.com/office/powerpoint/2010/main" val="36428175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32EDA-1D15-F9F4-8B5A-4ED6C3092B3D}"/>
              </a:ext>
            </a:extLst>
          </p:cNvPr>
          <p:cNvSpPr>
            <a:spLocks noGrp="1"/>
          </p:cNvSpPr>
          <p:nvPr>
            <p:ph type="title"/>
          </p:nvPr>
        </p:nvSpPr>
        <p:spPr/>
        <p:txBody>
          <a:bodyPr/>
          <a:lstStyle/>
          <a:p>
            <a:r>
              <a:rPr lang="en-IN" dirty="0"/>
              <a:t>SAP SuccessFactors</a:t>
            </a:r>
          </a:p>
        </p:txBody>
      </p:sp>
      <p:sp>
        <p:nvSpPr>
          <p:cNvPr id="3" name="Content Placeholder 2">
            <a:extLst>
              <a:ext uri="{FF2B5EF4-FFF2-40B4-BE49-F238E27FC236}">
                <a16:creationId xmlns:a16="http://schemas.microsoft.com/office/drawing/2014/main" id="{35ACE772-A058-C7E6-AFEA-432BF56A0D61}"/>
              </a:ext>
            </a:extLst>
          </p:cNvPr>
          <p:cNvSpPr>
            <a:spLocks noGrp="1"/>
          </p:cNvSpPr>
          <p:nvPr>
            <p:ph idx="1"/>
          </p:nvPr>
        </p:nvSpPr>
        <p:spPr/>
        <p:txBody>
          <a:bodyPr/>
          <a:lstStyle/>
          <a:p>
            <a:r>
              <a:rPr lang="en-US" dirty="0"/>
              <a:t>What it is:</a:t>
            </a:r>
            <a:br>
              <a:rPr lang="en-US" dirty="0"/>
            </a:br>
            <a:r>
              <a:rPr lang="en-US" dirty="0"/>
              <a:t>A cloud-based HR software by SAP that manages the entire employee lifecycle.</a:t>
            </a:r>
          </a:p>
          <a:p>
            <a:r>
              <a:rPr lang="en-US" dirty="0"/>
              <a:t>Key features:</a:t>
            </a:r>
          </a:p>
          <a:p>
            <a:pPr marL="857250" lvl="1" indent="-400050">
              <a:buFont typeface="+mj-lt"/>
              <a:buAutoNum type="romanLcPeriod"/>
            </a:pPr>
            <a:r>
              <a:rPr lang="en-US" dirty="0"/>
              <a:t>Recruitment &amp; onboarding </a:t>
            </a:r>
          </a:p>
          <a:p>
            <a:pPr marL="857250" lvl="1" indent="-400050">
              <a:buFont typeface="+mj-lt"/>
              <a:buAutoNum type="romanLcPeriod"/>
            </a:pPr>
            <a:r>
              <a:rPr lang="en-US" dirty="0"/>
              <a:t>Performance management </a:t>
            </a:r>
          </a:p>
          <a:p>
            <a:pPr marL="857250" lvl="1" indent="-400050">
              <a:buFont typeface="+mj-lt"/>
              <a:buAutoNum type="romanLcPeriod"/>
            </a:pPr>
            <a:r>
              <a:rPr lang="en-US" dirty="0"/>
              <a:t>Learning &amp; development </a:t>
            </a:r>
          </a:p>
          <a:p>
            <a:pPr marL="857250" lvl="1" indent="-400050">
              <a:buFont typeface="+mj-lt"/>
              <a:buAutoNum type="romanLcPeriod"/>
            </a:pPr>
            <a:r>
              <a:rPr lang="en-US" dirty="0"/>
              <a:t>Employee experience tools </a:t>
            </a:r>
          </a:p>
          <a:p>
            <a:r>
              <a:rPr lang="en-US" dirty="0"/>
              <a:t>Why companies use it:</a:t>
            </a:r>
            <a:br>
              <a:rPr lang="en-US" dirty="0"/>
            </a:br>
            <a:r>
              <a:rPr lang="en-US" dirty="0"/>
              <a:t>Best for large organizations needing end-to-end HR solutions.</a:t>
            </a:r>
          </a:p>
          <a:p>
            <a:pPr marL="0" indent="0">
              <a:buNone/>
            </a:pPr>
            <a:endParaRPr lang="en-IN" dirty="0"/>
          </a:p>
        </p:txBody>
      </p:sp>
    </p:spTree>
    <p:extLst>
      <p:ext uri="{BB962C8B-B14F-4D97-AF65-F5344CB8AC3E}">
        <p14:creationId xmlns:p14="http://schemas.microsoft.com/office/powerpoint/2010/main" val="3580766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0FE70-EAB8-8BA3-E414-7F8DD46053A3}"/>
              </a:ext>
            </a:extLst>
          </p:cNvPr>
          <p:cNvSpPr>
            <a:spLocks noGrp="1"/>
          </p:cNvSpPr>
          <p:nvPr>
            <p:ph type="title"/>
          </p:nvPr>
        </p:nvSpPr>
        <p:spPr/>
        <p:txBody>
          <a:bodyPr/>
          <a:lstStyle/>
          <a:p>
            <a:r>
              <a:rPr lang="en-IN" dirty="0"/>
              <a:t>Zoho People</a:t>
            </a:r>
          </a:p>
        </p:txBody>
      </p:sp>
      <p:sp>
        <p:nvSpPr>
          <p:cNvPr id="3" name="Content Placeholder 2">
            <a:extLst>
              <a:ext uri="{FF2B5EF4-FFF2-40B4-BE49-F238E27FC236}">
                <a16:creationId xmlns:a16="http://schemas.microsoft.com/office/drawing/2014/main" id="{25643D49-3DD1-ADA4-AB99-C98915774D1C}"/>
              </a:ext>
            </a:extLst>
          </p:cNvPr>
          <p:cNvSpPr>
            <a:spLocks noGrp="1"/>
          </p:cNvSpPr>
          <p:nvPr>
            <p:ph idx="1"/>
          </p:nvPr>
        </p:nvSpPr>
        <p:spPr/>
        <p:txBody>
          <a:bodyPr/>
          <a:lstStyle/>
          <a:p>
            <a:r>
              <a:rPr lang="en-US" dirty="0"/>
              <a:t>What it is:</a:t>
            </a:r>
            <a:br>
              <a:rPr lang="en-US" dirty="0"/>
            </a:br>
            <a:r>
              <a:rPr lang="en-US" dirty="0"/>
              <a:t>A lightweight HRMS (Human Resource Management System) designed for small to mid-sized businesses.</a:t>
            </a:r>
          </a:p>
          <a:p>
            <a:r>
              <a:rPr lang="en-US" dirty="0"/>
              <a:t>Key features:</a:t>
            </a:r>
          </a:p>
          <a:p>
            <a:pPr marL="857250" lvl="1" indent="-400050">
              <a:buFont typeface="+mj-lt"/>
              <a:buAutoNum type="romanLcPeriod"/>
            </a:pPr>
            <a:r>
              <a:rPr lang="en-US" dirty="0"/>
              <a:t>Attendance &amp; leave tracking </a:t>
            </a:r>
          </a:p>
          <a:p>
            <a:pPr marL="857250" lvl="1" indent="-400050">
              <a:buFont typeface="+mj-lt"/>
              <a:buAutoNum type="romanLcPeriod"/>
            </a:pPr>
            <a:r>
              <a:rPr lang="en-US" dirty="0"/>
              <a:t>Employee database </a:t>
            </a:r>
          </a:p>
          <a:p>
            <a:pPr marL="857250" lvl="1" indent="-400050">
              <a:buFont typeface="+mj-lt"/>
              <a:buAutoNum type="romanLcPeriod"/>
            </a:pPr>
            <a:r>
              <a:rPr lang="en-US" dirty="0"/>
              <a:t>Performance tracking </a:t>
            </a:r>
          </a:p>
          <a:p>
            <a:pPr marL="857250" lvl="1" indent="-400050">
              <a:buFont typeface="+mj-lt"/>
              <a:buAutoNum type="romanLcPeriod"/>
            </a:pPr>
            <a:r>
              <a:rPr lang="en-US" dirty="0"/>
              <a:t>Integration with Zoho ecosystem </a:t>
            </a:r>
          </a:p>
          <a:p>
            <a:r>
              <a:rPr lang="en-US" dirty="0"/>
              <a:t>Why companies use it:</a:t>
            </a:r>
            <a:br>
              <a:rPr lang="en-US" dirty="0"/>
            </a:br>
            <a:r>
              <a:rPr lang="en-US" dirty="0"/>
              <a:t>Affordable and easy to use for startups.</a:t>
            </a:r>
            <a:endParaRPr lang="en-IN" dirty="0"/>
          </a:p>
        </p:txBody>
      </p:sp>
    </p:spTree>
    <p:extLst>
      <p:ext uri="{BB962C8B-B14F-4D97-AF65-F5344CB8AC3E}">
        <p14:creationId xmlns:p14="http://schemas.microsoft.com/office/powerpoint/2010/main" val="15319942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740E6-AE66-0B45-8C0B-CEA482056F13}"/>
              </a:ext>
            </a:extLst>
          </p:cNvPr>
          <p:cNvSpPr>
            <a:spLocks noGrp="1"/>
          </p:cNvSpPr>
          <p:nvPr>
            <p:ph type="title"/>
          </p:nvPr>
        </p:nvSpPr>
        <p:spPr/>
        <p:txBody>
          <a:bodyPr/>
          <a:lstStyle/>
          <a:p>
            <a:r>
              <a:rPr lang="en-US" dirty="0"/>
              <a:t>UI Of Zoho People</a:t>
            </a:r>
            <a:endParaRPr lang="en-IN" dirty="0"/>
          </a:p>
        </p:txBody>
      </p:sp>
      <p:pic>
        <p:nvPicPr>
          <p:cNvPr id="5" name="Content Placeholder 4">
            <a:extLst>
              <a:ext uri="{FF2B5EF4-FFF2-40B4-BE49-F238E27FC236}">
                <a16:creationId xmlns:a16="http://schemas.microsoft.com/office/drawing/2014/main" id="{25C041FD-273E-C3F5-658F-348A94AAF1E3}"/>
              </a:ext>
            </a:extLst>
          </p:cNvPr>
          <p:cNvPicPr>
            <a:picLocks noGrp="1" noChangeAspect="1"/>
          </p:cNvPicPr>
          <p:nvPr>
            <p:ph idx="1"/>
          </p:nvPr>
        </p:nvPicPr>
        <p:blipFill>
          <a:blip r:embed="rId2"/>
          <a:stretch>
            <a:fillRect/>
          </a:stretch>
        </p:blipFill>
        <p:spPr>
          <a:xfrm>
            <a:off x="1166854" y="2160588"/>
            <a:ext cx="7618329" cy="3881437"/>
          </a:xfrm>
          <a:prstGeom prst="rect">
            <a:avLst/>
          </a:prstGeom>
        </p:spPr>
      </p:pic>
    </p:spTree>
    <p:extLst>
      <p:ext uri="{BB962C8B-B14F-4D97-AF65-F5344CB8AC3E}">
        <p14:creationId xmlns:p14="http://schemas.microsoft.com/office/powerpoint/2010/main" val="1324183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1703D-8CD3-B28A-7119-EB39E8E4AE59}"/>
              </a:ext>
            </a:extLst>
          </p:cNvPr>
          <p:cNvSpPr>
            <a:spLocks noGrp="1"/>
          </p:cNvSpPr>
          <p:nvPr>
            <p:ph type="title"/>
          </p:nvPr>
        </p:nvSpPr>
        <p:spPr>
          <a:xfrm>
            <a:off x="643467" y="816638"/>
            <a:ext cx="3367359" cy="5224724"/>
          </a:xfrm>
        </p:spPr>
        <p:txBody>
          <a:bodyPr anchor="ctr">
            <a:normAutofit/>
          </a:bodyPr>
          <a:lstStyle/>
          <a:p>
            <a:r>
              <a:rPr lang="en-US" dirty="0"/>
              <a:t>09. Benefits of AI in HRM</a:t>
            </a:r>
            <a:endParaRPr lang="en-IN" dirty="0"/>
          </a:p>
        </p:txBody>
      </p:sp>
      <p:sp>
        <p:nvSpPr>
          <p:cNvPr id="3" name="Content Placeholder 2">
            <a:extLst>
              <a:ext uri="{FF2B5EF4-FFF2-40B4-BE49-F238E27FC236}">
                <a16:creationId xmlns:a16="http://schemas.microsoft.com/office/drawing/2014/main" id="{5CF1A8EA-61D1-A903-AC21-64157641AA45}"/>
              </a:ext>
            </a:extLst>
          </p:cNvPr>
          <p:cNvSpPr>
            <a:spLocks noGrp="1"/>
          </p:cNvSpPr>
          <p:nvPr>
            <p:ph idx="1"/>
          </p:nvPr>
        </p:nvSpPr>
        <p:spPr>
          <a:xfrm>
            <a:off x="4654295" y="816638"/>
            <a:ext cx="4619706" cy="5224724"/>
          </a:xfrm>
        </p:spPr>
        <p:txBody>
          <a:bodyPr anchor="ctr">
            <a:normAutofit/>
          </a:bodyPr>
          <a:lstStyle/>
          <a:p>
            <a:r>
              <a:rPr lang="en-US" dirty="0"/>
              <a:t>Saves Time</a:t>
            </a:r>
          </a:p>
          <a:p>
            <a:r>
              <a:rPr lang="en-US" dirty="0"/>
              <a:t>Faster Hiring</a:t>
            </a:r>
          </a:p>
          <a:p>
            <a:r>
              <a:rPr lang="en-US" dirty="0"/>
              <a:t>Reduce Human Error</a:t>
            </a:r>
          </a:p>
          <a:p>
            <a:r>
              <a:rPr lang="en-US" dirty="0"/>
              <a:t>Better Decision Making</a:t>
            </a:r>
          </a:p>
          <a:p>
            <a:endParaRPr lang="en-IN" dirty="0"/>
          </a:p>
        </p:txBody>
      </p:sp>
    </p:spTree>
    <p:extLst>
      <p:ext uri="{BB962C8B-B14F-4D97-AF65-F5344CB8AC3E}">
        <p14:creationId xmlns:p14="http://schemas.microsoft.com/office/powerpoint/2010/main" val="9527268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65A8B-4816-9154-F077-AAD10760E9F6}"/>
              </a:ext>
            </a:extLst>
          </p:cNvPr>
          <p:cNvSpPr>
            <a:spLocks noGrp="1"/>
          </p:cNvSpPr>
          <p:nvPr>
            <p:ph type="title"/>
          </p:nvPr>
        </p:nvSpPr>
        <p:spPr/>
        <p:txBody>
          <a:bodyPr>
            <a:normAutofit/>
          </a:bodyPr>
          <a:lstStyle/>
          <a:p>
            <a:r>
              <a:rPr lang="en-US" dirty="0"/>
              <a:t>Challenges of AI in HRM</a:t>
            </a:r>
            <a:endParaRPr lang="en-IN" dirty="0"/>
          </a:p>
        </p:txBody>
      </p:sp>
      <p:graphicFrame>
        <p:nvGraphicFramePr>
          <p:cNvPr id="5" name="Content Placeholder 2">
            <a:extLst>
              <a:ext uri="{FF2B5EF4-FFF2-40B4-BE49-F238E27FC236}">
                <a16:creationId xmlns:a16="http://schemas.microsoft.com/office/drawing/2014/main" id="{12C960A5-2F86-3CA8-4B66-1CEAE8EE1B36}"/>
              </a:ext>
            </a:extLst>
          </p:cNvPr>
          <p:cNvGraphicFramePr>
            <a:graphicFrameLocks noGrp="1"/>
          </p:cNvGraphicFramePr>
          <p:nvPr>
            <p:ph idx="1"/>
            <p:extLst>
              <p:ext uri="{D42A27DB-BD31-4B8C-83A1-F6EECF244321}">
                <p14:modId xmlns:p14="http://schemas.microsoft.com/office/powerpoint/2010/main" val="514910500"/>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8719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207F4-CD0E-F661-2BB5-02B8CB5EDF27}"/>
              </a:ext>
            </a:extLst>
          </p:cNvPr>
          <p:cNvSpPr>
            <a:spLocks noGrp="1"/>
          </p:cNvSpPr>
          <p:nvPr>
            <p:ph type="title"/>
          </p:nvPr>
        </p:nvSpPr>
        <p:spPr/>
        <p:txBody>
          <a:bodyPr/>
          <a:lstStyle/>
          <a:p>
            <a:r>
              <a:rPr lang="en-US" dirty="0"/>
              <a:t>How AI Works in HRM</a:t>
            </a:r>
            <a:endParaRPr lang="en-IN" dirty="0"/>
          </a:p>
        </p:txBody>
      </p:sp>
      <p:sp>
        <p:nvSpPr>
          <p:cNvPr id="3" name="Content Placeholder 2">
            <a:extLst>
              <a:ext uri="{FF2B5EF4-FFF2-40B4-BE49-F238E27FC236}">
                <a16:creationId xmlns:a16="http://schemas.microsoft.com/office/drawing/2014/main" id="{CD18DFD0-B25C-3A10-877D-8F0BB397F037}"/>
              </a:ext>
            </a:extLst>
          </p:cNvPr>
          <p:cNvSpPr>
            <a:spLocks noGrp="1"/>
          </p:cNvSpPr>
          <p:nvPr>
            <p:ph idx="1"/>
          </p:nvPr>
        </p:nvSpPr>
        <p:spPr/>
        <p:txBody>
          <a:bodyPr/>
          <a:lstStyle/>
          <a:p>
            <a:r>
              <a:rPr lang="en-US" dirty="0"/>
              <a:t>Resume Shortlisting -&gt; Using NLP </a:t>
            </a:r>
          </a:p>
          <a:p>
            <a:r>
              <a:rPr lang="en-US" dirty="0"/>
              <a:t>Face Recognition -&gt; CNN (attendance systems)</a:t>
            </a:r>
          </a:p>
          <a:p>
            <a:r>
              <a:rPr lang="en-US" dirty="0"/>
              <a:t>Chatbots -&gt;</a:t>
            </a:r>
            <a:r>
              <a:rPr lang="en-US" dirty="0" err="1"/>
              <a:t>Bulding</a:t>
            </a:r>
            <a:r>
              <a:rPr lang="en-US" dirty="0"/>
              <a:t> chatbots using LLM and </a:t>
            </a:r>
            <a:r>
              <a:rPr lang="en-US" dirty="0" err="1"/>
              <a:t>LangChain</a:t>
            </a:r>
            <a:endParaRPr lang="en-US" dirty="0"/>
          </a:p>
          <a:p>
            <a:endParaRPr lang="en-IN" dirty="0"/>
          </a:p>
        </p:txBody>
      </p:sp>
    </p:spTree>
    <p:extLst>
      <p:ext uri="{BB962C8B-B14F-4D97-AF65-F5344CB8AC3E}">
        <p14:creationId xmlns:p14="http://schemas.microsoft.com/office/powerpoint/2010/main" val="3474210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D05D4-CE7C-D12E-2468-251E8C7F8E4F}"/>
              </a:ext>
            </a:extLst>
          </p:cNvPr>
          <p:cNvSpPr>
            <a:spLocks noGrp="1"/>
          </p:cNvSpPr>
          <p:nvPr>
            <p:ph type="title"/>
          </p:nvPr>
        </p:nvSpPr>
        <p:spPr/>
        <p:txBody>
          <a:bodyPr/>
          <a:lstStyle/>
          <a:p>
            <a:r>
              <a:rPr lang="en-US" dirty="0"/>
              <a:t>Workflow Diagram of Recruitment using AI</a:t>
            </a:r>
            <a:endParaRPr lang="en-IN" dirty="0"/>
          </a:p>
        </p:txBody>
      </p:sp>
      <p:pic>
        <p:nvPicPr>
          <p:cNvPr id="5" name="Content Placeholder 4">
            <a:extLst>
              <a:ext uri="{FF2B5EF4-FFF2-40B4-BE49-F238E27FC236}">
                <a16:creationId xmlns:a16="http://schemas.microsoft.com/office/drawing/2014/main" id="{D491507F-E452-9322-5F3A-B645E7398D22}"/>
              </a:ext>
            </a:extLst>
          </p:cNvPr>
          <p:cNvPicPr>
            <a:picLocks noGrp="1" noChangeAspect="1"/>
          </p:cNvPicPr>
          <p:nvPr>
            <p:ph idx="1"/>
          </p:nvPr>
        </p:nvPicPr>
        <p:blipFill>
          <a:blip r:embed="rId2"/>
          <a:stretch>
            <a:fillRect/>
          </a:stretch>
        </p:blipFill>
        <p:spPr>
          <a:xfrm>
            <a:off x="1525853" y="2160588"/>
            <a:ext cx="6900332" cy="3881437"/>
          </a:xfrm>
          <a:prstGeom prst="rect">
            <a:avLst/>
          </a:prstGeom>
        </p:spPr>
      </p:pic>
    </p:spTree>
    <p:extLst>
      <p:ext uri="{BB962C8B-B14F-4D97-AF65-F5344CB8AC3E}">
        <p14:creationId xmlns:p14="http://schemas.microsoft.com/office/powerpoint/2010/main" val="1826796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0FBEB-7B78-4DBB-AE76-BCF8261E5B18}"/>
              </a:ext>
            </a:extLst>
          </p:cNvPr>
          <p:cNvSpPr>
            <a:spLocks noGrp="1"/>
          </p:cNvSpPr>
          <p:nvPr>
            <p:ph type="title"/>
          </p:nvPr>
        </p:nvSpPr>
        <p:spPr/>
        <p:txBody>
          <a:bodyPr/>
          <a:lstStyle/>
          <a:p>
            <a:r>
              <a:rPr lang="en-IN" dirty="0"/>
              <a:t>Use Cases Of HRM with AI</a:t>
            </a:r>
          </a:p>
        </p:txBody>
      </p:sp>
      <p:sp>
        <p:nvSpPr>
          <p:cNvPr id="3" name="Content Placeholder 2">
            <a:extLst>
              <a:ext uri="{FF2B5EF4-FFF2-40B4-BE49-F238E27FC236}">
                <a16:creationId xmlns:a16="http://schemas.microsoft.com/office/drawing/2014/main" id="{C4CEDCAE-D25B-B547-B3D7-C8FFB9097A24}"/>
              </a:ext>
            </a:extLst>
          </p:cNvPr>
          <p:cNvSpPr>
            <a:spLocks noGrp="1"/>
          </p:cNvSpPr>
          <p:nvPr>
            <p:ph idx="1"/>
          </p:nvPr>
        </p:nvSpPr>
        <p:spPr/>
        <p:txBody>
          <a:bodyPr/>
          <a:lstStyle/>
          <a:p>
            <a:r>
              <a:rPr lang="en-US" dirty="0"/>
              <a:t>Resume shortlisting automation</a:t>
            </a:r>
          </a:p>
          <a:p>
            <a:r>
              <a:rPr lang="en-US" dirty="0"/>
              <a:t>Smart attendance system (using face recognition)</a:t>
            </a:r>
          </a:p>
          <a:p>
            <a:r>
              <a:rPr lang="en-US" dirty="0"/>
              <a:t>Chatbot HR and Employee queries</a:t>
            </a:r>
          </a:p>
          <a:p>
            <a:r>
              <a:rPr lang="en-IN" dirty="0"/>
              <a:t>Employee attrition prediction</a:t>
            </a:r>
          </a:p>
        </p:txBody>
      </p:sp>
    </p:spTree>
    <p:extLst>
      <p:ext uri="{BB962C8B-B14F-4D97-AF65-F5344CB8AC3E}">
        <p14:creationId xmlns:p14="http://schemas.microsoft.com/office/powerpoint/2010/main" val="6146162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246F-CB60-ED68-CBB9-251AD5918177}"/>
              </a:ext>
            </a:extLst>
          </p:cNvPr>
          <p:cNvSpPr>
            <a:spLocks noGrp="1"/>
          </p:cNvSpPr>
          <p:nvPr>
            <p:ph type="title"/>
          </p:nvPr>
        </p:nvSpPr>
        <p:spPr>
          <a:xfrm>
            <a:off x="643467" y="816638"/>
            <a:ext cx="3367359" cy="5224724"/>
          </a:xfrm>
        </p:spPr>
        <p:txBody>
          <a:bodyPr anchor="ctr">
            <a:normAutofit/>
          </a:bodyPr>
          <a:lstStyle/>
          <a:p>
            <a:r>
              <a:rPr lang="en-US"/>
              <a:t>Conclusion</a:t>
            </a:r>
            <a:endParaRPr lang="en-IN"/>
          </a:p>
        </p:txBody>
      </p:sp>
      <p:sp>
        <p:nvSpPr>
          <p:cNvPr id="3" name="Content Placeholder 2">
            <a:extLst>
              <a:ext uri="{FF2B5EF4-FFF2-40B4-BE49-F238E27FC236}">
                <a16:creationId xmlns:a16="http://schemas.microsoft.com/office/drawing/2014/main" id="{D5A063F6-916B-4404-5992-0F050EEFC7E0}"/>
              </a:ext>
            </a:extLst>
          </p:cNvPr>
          <p:cNvSpPr>
            <a:spLocks noGrp="1"/>
          </p:cNvSpPr>
          <p:nvPr>
            <p:ph idx="1"/>
          </p:nvPr>
        </p:nvSpPr>
        <p:spPr>
          <a:xfrm>
            <a:off x="4654295" y="816638"/>
            <a:ext cx="4619706" cy="5224724"/>
          </a:xfrm>
        </p:spPr>
        <p:txBody>
          <a:bodyPr anchor="ctr">
            <a:normAutofit/>
          </a:bodyPr>
          <a:lstStyle/>
          <a:p>
            <a:pPr>
              <a:lnSpc>
                <a:spcPct val="90000"/>
              </a:lnSpc>
            </a:pPr>
            <a:r>
              <a:rPr lang="en-US" sz="1500" dirty="0"/>
              <a:t>AI is transforming Human Resource Management by automating repetitive tasks and enabling data-driven decision making. From recruitment and resume parsing to attendance tracking and employee engagement, AI technologies like machine learning, NLP, and computer vision help organizations work faster, smarter, and more efficiently.</a:t>
            </a:r>
          </a:p>
          <a:p>
            <a:pPr>
              <a:lnSpc>
                <a:spcPct val="90000"/>
              </a:lnSpc>
            </a:pPr>
            <a:r>
              <a:rPr lang="en-US" sz="1500" dirty="0"/>
              <a:t>Tools such as </a:t>
            </a:r>
            <a:r>
              <a:rPr lang="en-US" sz="1500" dirty="0" err="1"/>
              <a:t>RChilli</a:t>
            </a:r>
            <a:r>
              <a:rPr lang="en-US" sz="1500" dirty="0"/>
              <a:t> and </a:t>
            </a:r>
            <a:r>
              <a:rPr lang="en-US" sz="1500" dirty="0" err="1"/>
              <a:t>HireAbility</a:t>
            </a:r>
            <a:r>
              <a:rPr lang="en-US" sz="1500" dirty="0"/>
              <a:t> automate candidate screening, while face recognition systems streamline attendance management. AI chatbots and analytics platforms further improve employee experience and organizational productivity.</a:t>
            </a:r>
          </a:p>
          <a:p>
            <a:pPr>
              <a:lnSpc>
                <a:spcPct val="90000"/>
              </a:lnSpc>
            </a:pPr>
            <a:r>
              <a:rPr lang="en-US" sz="1500" dirty="0"/>
              <a:t>Overall, AI reduces manual workload, minimizes errors, and improves hiring quality. However, challenges like data privacy, bias, and implementation cost must be carefully managed.</a:t>
            </a:r>
          </a:p>
          <a:p>
            <a:pPr>
              <a:lnSpc>
                <a:spcPct val="90000"/>
              </a:lnSpc>
            </a:pPr>
            <a:endParaRPr lang="en-IN" sz="1500" dirty="0"/>
          </a:p>
        </p:txBody>
      </p:sp>
    </p:spTree>
    <p:extLst>
      <p:ext uri="{BB962C8B-B14F-4D97-AF65-F5344CB8AC3E}">
        <p14:creationId xmlns:p14="http://schemas.microsoft.com/office/powerpoint/2010/main" val="32482541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375</TotalTime>
  <Words>1398</Words>
  <Application>Microsoft Office PowerPoint</Application>
  <PresentationFormat>Widescreen</PresentationFormat>
  <Paragraphs>270</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Trebuchet MS</vt:lpstr>
      <vt:lpstr>Wingdings</vt:lpstr>
      <vt:lpstr>Wingdings 3</vt:lpstr>
      <vt:lpstr>Facet</vt:lpstr>
      <vt:lpstr>HRM Process With AI</vt:lpstr>
      <vt:lpstr>There are 9 section in this HRM process with AI</vt:lpstr>
      <vt:lpstr>01. AI-based Recruitment &amp; Screening</vt:lpstr>
      <vt:lpstr>Tools used in AI based Screening</vt:lpstr>
      <vt:lpstr>HireVue</vt:lpstr>
      <vt:lpstr>02. Resume Parsing &amp; Shortlisting</vt:lpstr>
      <vt:lpstr>What is RChilli?</vt:lpstr>
      <vt:lpstr>Why is it needed?</vt:lpstr>
      <vt:lpstr>Key Features</vt:lpstr>
      <vt:lpstr>PowerPoint Presentation</vt:lpstr>
      <vt:lpstr>Rchilli</vt:lpstr>
      <vt:lpstr>Resume Parsing Flow Chart </vt:lpstr>
      <vt:lpstr>Example </vt:lpstr>
      <vt:lpstr>03. Attendance &amp; Leave Management</vt:lpstr>
      <vt:lpstr>Face Detection Models</vt:lpstr>
      <vt:lpstr>Face Recognition Models</vt:lpstr>
      <vt:lpstr>04. AI Chatbots for Employee Support</vt:lpstr>
      <vt:lpstr>What is an AI Chatbot?</vt:lpstr>
      <vt:lpstr>Why AI Chatbots in HRM?</vt:lpstr>
      <vt:lpstr>Key Functions of HR Chatbots</vt:lpstr>
      <vt:lpstr>Technologies Behind AI Chatbots</vt:lpstr>
      <vt:lpstr>Real-World Example</vt:lpstr>
      <vt:lpstr>05. Performance Tracking &amp; Analytics</vt:lpstr>
      <vt:lpstr>What is Performance Tracking?</vt:lpstr>
      <vt:lpstr>What is HR Analytics?</vt:lpstr>
      <vt:lpstr>Key Components</vt:lpstr>
      <vt:lpstr>PowerPoint Presentation</vt:lpstr>
      <vt:lpstr>Technologies Used</vt:lpstr>
      <vt:lpstr>Real-World Use Cases</vt:lpstr>
      <vt:lpstr>06. Payroll and HR Operations Automation</vt:lpstr>
      <vt:lpstr>Key Components</vt:lpstr>
      <vt:lpstr>PowerPoint Presentation</vt:lpstr>
      <vt:lpstr>Technologies Used</vt:lpstr>
      <vt:lpstr>07. Employee Engagement &amp; Feedback</vt:lpstr>
      <vt:lpstr>Example of Employee Engagement &amp; Feedback</vt:lpstr>
      <vt:lpstr>08. AI Tools Used in HRM</vt:lpstr>
      <vt:lpstr>Workday</vt:lpstr>
      <vt:lpstr>UI Of Workday</vt:lpstr>
      <vt:lpstr>SAP SuccessFactors</vt:lpstr>
      <vt:lpstr>Zoho People</vt:lpstr>
      <vt:lpstr>UI Of Zoho People</vt:lpstr>
      <vt:lpstr>09. Benefits of AI in HRM</vt:lpstr>
      <vt:lpstr>Challenges of AI in HRM</vt:lpstr>
      <vt:lpstr>How AI Works in HRM</vt:lpstr>
      <vt:lpstr>Workflow Diagram of Recruitment using AI</vt:lpstr>
      <vt:lpstr>Use Cases Of HRM with AI</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Rohit Sen</dc:creator>
  <cp:lastModifiedBy>Rohit Sen</cp:lastModifiedBy>
  <cp:revision>14</cp:revision>
  <dcterms:created xsi:type="dcterms:W3CDTF">2026-05-11T04:45:27Z</dcterms:created>
  <dcterms:modified xsi:type="dcterms:W3CDTF">2026-05-11T11:00:53Z</dcterms:modified>
</cp:coreProperties>
</file>